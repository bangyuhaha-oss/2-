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Hello, everyone. We are Group Two: Liang Bangyu, Li Yuanxiang, Liu Yixuan and Liu Shuai. Our project is an employee management system for the Meiti Shangcheng store scenario. We will explain the client problem, connect the coursework to the implementation, and demonstrate three role-based workspaces. The teacher is our client reviewer. The people and schedules in the demonstration are fictional. This presentation introduces the user-authorized enhancement of our local Flask release.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client needs current employee records and understandable work arrangements. HR needs to find the correct person, supervisors need to review their own team, and employees need to understand their personal shifts. The enhancement gives each role a clear starting page and useful navigation. The interface takes inspiration from an office workspace: a side navigation, a light background, white content areas and blue action buttons. The project keeps its own identity. We will demonstrate practical tasks rather than claim an unmeasured increase in productivity.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HR can combine directory filters, choose an available sort order, and export matching employee records. A supervisor can review a saved team week and manually load a previous week into an unsaved draft. An employee can review today's work, the next saved shift, weekly totals and personal check-in history. Access still follows the signed-in identity. The supervisor's views stay within the assigned team, and personal views stay within the employee's account. Inventory, approval workflows, leave management, payroll calculation and automatic scheduling remain outside our scope.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five coursework artifacts describe the same system. The project plan defines scope and delivery. The URS defines user behavior and acceptance conditions. The class diagram explains the business models and their relationships. The test plan connects observable steps with expected results, while the Scrum board connects tasks, owners and evidence. The new workspace functions are enhancements authorized by the user on October twenty-sixth. We will identify these separately from the original requirements. Updated documents and the website must describe the same release before final handover.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implementation uses Python, Flask, SQLite, Jinja templates and CSS, without application JavaScript. User, Employee, Team, ScheduleWeek and CheckIn remain the five business models. The workspace module supplies readable helpers for queries, dates, summaries and CSV output. For example, an employee form sends a request to Flask. The server checks the session, role and form token, validates the input, and writes parameterized SQL to SQLite. It then redirects and renders a new page. Directory values become query parameters, while sorting is selected from a fixed whitelist. This keeps the request flow concrete enough to explain.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start as HR and open the directory from the dashboard. We filter the records and open the correct person. Next, we sign out and enter the supervisor workspace. The target is the week beginning November second. We manually load the week beginning October twenty-sixth as an unsaved draft, then discard it. We do not save a new schedule during this route. Finally, we enter the employee workspace, inspect personal work and open check-in history. CSV, printing and a complete reviewed save are separate question-time demonstrations.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technical evidence is reported in three separate suites. The core regression suite passed 40 checks, the enhancement suite passed 26 checks, and the browser suite passed 13 workflows with application JavaScript disabled. The first two use Flask test clients and temporary SQLite databases. The browser checks also use isolated data. The mobile picture is viewport emulation, and local check-in is a connection simulation. Independent users, physical devices, a real store network and teacher acceptance require separate evidence.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propose four responsibility areas: requirements and coordination, data and backend, templates and scheduling, and testing and delivery. Each member must confirm the work they actually performed. AI has assisted requirement comparison, implementation, document preparation and technical checks. Members remain responsible for reviewing the output and explaining the relevant code. The board should link current tasks to requirements and evidence. Before the classroom presentation on October twenty-eighth, we still need a timed team rehearsal, clear speaker handovers and a reliable local demonstration setup.</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iteration responds to the user's request for more useful role functions and a clearer interface. The main decisions concern navigation, visible state and controlled actions. A previous-week draft requires human review before saving. CSV exports use the matching query and protect text that could become a spreadsheet formula. Personal summaries distinguish the selected week from today's date and the future search window. These details make the behavior easier to inspect. Our reflection should explain the problems we actually observed and corrected, supported by the final release evidence.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handover brings together five coursework artifacts and one identified local release. The proposed enhancement keeps role boundaries and manual control while making everyday tasks easier to find. The next step is to demonstrate the frozen version, record findings and agree any corrections. Final acceptance remains the client's decision. Thank you for listening. We are ready for your questions.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group2_v21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group2_v21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US">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US">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US">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20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00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60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45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25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90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70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500" kern="1200" lang="en-US">
          <a:solidFill>
            <a:schemeClr val="tx1"/>
          </a:solidFill>
          <a:latin typeface="+mn-lt"/>
          <a:ea typeface="+mn-ea"/>
          <a:cs typeface="+mn-cs"/>
        </a:defRPr>
      </a:lvl9pPr>
    </p:bodyStyle>
    <p:otherStyle>
      <a:defPPr>
        <a:defRPr lang="en-US"/>
      </a:defPPr>
      <a:lvl1pPr marL="0" algn="l" defTabSz="457200" rtl="0" eaLnBrk="1" latinLnBrk="0" hangingPunct="1">
        <a:defRPr sz="3000" kern="1200" lang="en-US">
          <a:solidFill>
            <a:schemeClr val="tx1"/>
          </a:solidFill>
          <a:latin typeface="+mn-lt"/>
          <a:ea typeface="+mn-ea"/>
          <a:cs typeface="+mn-cs"/>
        </a:defRPr>
      </a:lvl1pPr>
      <a:lvl2pPr marL="457200" algn="l" defTabSz="457200" rtl="0" eaLnBrk="1" latinLnBrk="0" hangingPunct="1">
        <a:defRPr sz="2800" kern="1200" lang="en-US">
          <a:solidFill>
            <a:schemeClr val="tx1"/>
          </a:solidFill>
          <a:latin typeface="+mn-lt"/>
          <a:ea typeface="+mn-ea"/>
          <a:cs typeface="+mn-cs"/>
        </a:defRPr>
      </a:lvl2pPr>
      <a:lvl3pPr marL="914400" algn="l" defTabSz="457200" rtl="0" eaLnBrk="1" latinLnBrk="0" hangingPunct="1">
        <a:defRPr sz="2600" kern="1200" lang="en-US">
          <a:solidFill>
            <a:schemeClr val="tx1"/>
          </a:solidFill>
          <a:latin typeface="+mn-lt"/>
          <a:ea typeface="+mn-ea"/>
          <a:cs typeface="+mn-cs"/>
        </a:defRPr>
      </a:lvl3pPr>
      <a:lvl4pPr marL="1371600" algn="l" defTabSz="457200" rtl="0" eaLnBrk="1" latinLnBrk="0" hangingPunct="1">
        <a:defRPr sz="2450" kern="1200" lang="en-US">
          <a:solidFill>
            <a:schemeClr val="tx1"/>
          </a:solidFill>
          <a:latin typeface="+mn-lt"/>
          <a:ea typeface="+mn-ea"/>
          <a:cs typeface="+mn-cs"/>
        </a:defRPr>
      </a:lvl4pPr>
      <a:lvl5pPr marL="1828800" algn="l" defTabSz="457200" rtl="0" eaLnBrk="1" latinLnBrk="0" hangingPunct="1">
        <a:defRPr sz="2250" kern="1200" lang="en-US">
          <a:solidFill>
            <a:schemeClr val="tx1"/>
          </a:solidFill>
          <a:latin typeface="+mn-lt"/>
          <a:ea typeface="+mn-ea"/>
          <a:cs typeface="+mn-cs"/>
        </a:defRPr>
      </a:lvl5pPr>
      <a:lvl6pPr marL="2286000" algn="l" defTabSz="457200" rtl="0" eaLnBrk="1" latinLnBrk="0" hangingPunct="1">
        <a:defRPr sz="2050" kern="1200" lang="en-US">
          <a:solidFill>
            <a:schemeClr val="tx1"/>
          </a:solidFill>
          <a:latin typeface="+mn-lt"/>
          <a:ea typeface="+mn-ea"/>
          <a:cs typeface="+mn-cs"/>
        </a:defRPr>
      </a:lvl6pPr>
      <a:lvl7pPr marL="2743200" algn="l" defTabSz="457200" rtl="0" eaLnBrk="1" latinLnBrk="0" hangingPunct="1">
        <a:defRPr sz="1900" kern="1200" lang="en-US">
          <a:solidFill>
            <a:schemeClr val="tx1"/>
          </a:solidFill>
          <a:latin typeface="+mn-lt"/>
          <a:ea typeface="+mn-ea"/>
          <a:cs typeface="+mn-cs"/>
        </a:defRPr>
      </a:lvl7pPr>
      <a:lvl8pPr marL="3200400" algn="l" defTabSz="457200" rtl="0" eaLnBrk="1" latinLnBrk="0" hangingPunct="1">
        <a:defRPr sz="1700" kern="1200" lang="en-US">
          <a:solidFill>
            <a:schemeClr val="tx1"/>
          </a:solidFill>
          <a:latin typeface="+mn-lt"/>
          <a:ea typeface="+mn-ea"/>
          <a:cs typeface="+mn-cs"/>
        </a:defRPr>
      </a:lvl8pPr>
      <a:lvl9pPr marL="3657600" algn="l" defTabSz="457200" rtl="0" eaLnBrk="1" latinLnBrk="0" hangingPunct="1">
        <a:defRPr sz="150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57293194ee03a50.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873545283fe507a.pn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53ff2560b80a8bc.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5f530ba0f8ecf00.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09505d23c38528d.png"/>
  <Relationship Id="rId3"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p01-project-title"/>
          <p:cNvGrpSpPr/>
          <p:nvPr/>
        </p:nvGrpSpPr>
        <p:grpSpPr>
          <a:xfrm>
            <a:off x="590550" y="565150"/>
            <a:ext cx="5224479" cy="2466975"/>
            <a:chOff x="590550" y="565150"/>
            <a:chExt cx="5224479" cy="2466975"/>
          </a:xfrm>
        </p:grpSpPr>
        <p:sp>
          <p:nvSpPr>
            <p:cNvPr id="2" name="TextBox 2"/>
            <p:cNvSpPr txBox="1"/>
            <p:nvPr/>
          </p:nvSpPr>
          <p:spPr>
            <a:xfrm>
              <a:off x="598932" y="565150"/>
              <a:ext cx="5216097"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GROUP 2 · FINAL PROJECT REVIEW</a:t>
              </a:r>
            </a:p>
          </p:txBody>
        </p:sp>
        <p:sp>
          <p:nvSpPr>
            <p:cNvPr id="3" name="TextBox 3"/>
            <p:cNvSpPr txBox="1"/>
            <p:nvPr/>
          </p:nvSpPr>
          <p:spPr>
            <a:xfrm>
              <a:off x="590550" y="993775"/>
              <a:ext cx="3298454" cy="2038350"/>
            </a:xfrm>
            <a:prstGeom prst="rect">
              <a:avLst/>
            </a:prstGeom>
            <a:noFill/>
            <a:ln>
              <a:noFill/>
            </a:ln>
          </p:spPr>
          <p:txBody>
            <a:bodyPr wrap="none" lIns="0" tIns="0" rIns="0" bIns="0" anchor="t" anchorCtr="0">
              <a:spAutoFit/>
            </a:bodyPr>
            <a:lstStyle/>
            <a:p>
              <a:pPr algn="l">
                <a:lnSpc>
                  <a:spcPts val="4800"/>
                </a:lnSpc>
              </a:pPr>
              <a:r>
                <a:rPr lang="en-US" sz="4200" b="1" dirty="0">
                  <a:solidFill>
                    <a:srgbClr val="FFFFFF"/>
                  </a:solidFill>
                  <a:latin typeface="+mn-lt"/>
                  <a:ea typeface="+mn-ea"/>
                  <a:cs typeface="+mn-cs"/>
                </a:rPr>
                <a:t>Employee</a:t>
              </a:r>
              <a:br>
                <a:rPr lang="en-US" sz="4200" b="1" dirty="0">
                  <a:solidFill>
                    <a:srgbClr val="FFFFFF"/>
                  </a:solidFill>
                  <a:latin typeface="+mn-lt"/>
                  <a:ea typeface="+mn-ea"/>
                  <a:cs typeface="+mn-cs"/>
                </a:rPr>
              </a:br>
              <a:r>
                <a:rPr lang="en-US" sz="4200" b="1" dirty="0">
                  <a:solidFill>
                    <a:srgbClr val="FFFFFF"/>
                  </a:solidFill>
                  <a:latin typeface="+mn-lt"/>
                  <a:ea typeface="+mn-ea"/>
                  <a:cs typeface="+mn-cs"/>
                </a:rPr>
                <a:t>Management</a:t>
              </a:r>
              <a:br>
                <a:rPr lang="en-US" sz="4200" b="1" dirty="0">
                  <a:solidFill>
                    <a:srgbClr val="FFFFFF"/>
                  </a:solidFill>
                  <a:latin typeface="+mn-lt"/>
                  <a:ea typeface="+mn-ea"/>
                  <a:cs typeface="+mn-cs"/>
                </a:rPr>
              </a:br>
              <a:r>
                <a:rPr lang="en-US" sz="4200" b="1" dirty="0">
                  <a:solidFill>
                    <a:srgbClr val="FFFFFF"/>
                  </a:solidFill>
                  <a:latin typeface="+mn-lt"/>
                  <a:ea typeface="+mn-ea"/>
                  <a:cs typeface="+mn-cs"/>
                </a:rPr>
                <a:t>System</a:t>
              </a:r>
            </a:p>
          </p:txBody>
        </p:sp>
      </p:grpSp>
      <p:grpSp>
        <p:nvGrpSpPr>
          <p:cNvPr id="6" name="p01-core-promise"/>
          <p:cNvGrpSpPr/>
          <p:nvPr/>
        </p:nvGrpSpPr>
        <p:grpSpPr>
          <a:xfrm>
            <a:off x="592836" y="3082925"/>
            <a:ext cx="3504682" cy="1159764"/>
            <a:chOff x="592836" y="3082925"/>
            <a:chExt cx="3504682" cy="1159764"/>
          </a:xfrm>
        </p:grpSpPr>
        <p:sp>
          <p:nvSpPr>
            <p:cNvPr id="5" name="TextBox 5"/>
            <p:cNvSpPr txBox="1"/>
            <p:nvPr/>
          </p:nvSpPr>
          <p:spPr>
            <a:xfrm>
              <a:off x="592836" y="3082925"/>
              <a:ext cx="3504682" cy="1159764"/>
            </a:xfrm>
            <a:prstGeom prst="rect">
              <a:avLst/>
            </a:prstGeom>
            <a:noFill/>
            <a:ln>
              <a:noFill/>
            </a:ln>
          </p:spPr>
          <p:txBody>
            <a:bodyPr wrap="none" lIns="0" tIns="0" rIns="0" bIns="0" anchor="t" anchorCtr="0">
              <a:spAutoFit/>
            </a:bodyPr>
            <a:lstStyle/>
            <a:p>
              <a:pPr algn="l">
                <a:lnSpc>
                  <a:spcPts val="4050"/>
                </a:lnSpc>
              </a:pPr>
              <a:r>
                <a:rPr lang="en-US" sz="3300" dirty="0">
                  <a:solidFill>
                    <a:srgbClr val="FFFFFF"/>
                  </a:solidFill>
                  <a:latin typeface="+mn-lt"/>
                  <a:ea typeface="+mn-ea"/>
                  <a:cs typeface="+mn-cs"/>
                </a:rPr>
                <a:t>One workforce.</a:t>
              </a:r>
              <a:br>
                <a:rPr lang="en-US" sz="3300" dirty="0">
                  <a:solidFill>
                    <a:srgbClr val="FFFFFF"/>
                  </a:solidFill>
                  <a:latin typeface="+mn-lt"/>
                  <a:ea typeface="+mn-ea"/>
                  <a:cs typeface="+mn-cs"/>
                </a:rPr>
              </a:br>
              <a:r>
                <a:rPr lang="en-US" sz="3300" b="1" dirty="0">
                  <a:solidFill>
                    <a:schemeClr val="accent3"/>
                  </a:solidFill>
                  <a:latin typeface="+mn-lt"/>
                  <a:ea typeface="+mn-ea"/>
                  <a:cs typeface="+mn-cs"/>
                </a:rPr>
                <a:t>Three clear roles.</a:t>
              </a:r>
            </a:p>
          </p:txBody>
        </p:sp>
      </p:grpSp>
      <p:grpSp>
        <p:nvGrpSpPr>
          <p:cNvPr id="9" name="p01-actual-application"/>
          <p:cNvGrpSpPr/>
          <p:nvPr/>
        </p:nvGrpSpPr>
        <p:grpSpPr>
          <a:xfrm>
            <a:off x="6050280" y="1714500"/>
            <a:ext cx="5047869" cy="4150995"/>
            <a:chOff x="6050280" y="1714500"/>
            <a:chExt cx="5047869" cy="4150995"/>
          </a:xfrm>
        </p:grpSpPr>
        <p:pic>
          <p:nvPicPr>
            <p:cNvPr id="7" name="Image 7"/>
            <p:cNvPicPr>
              <a:picLocks noChangeAspect="1"/>
            </p:cNvPicPr>
            <p:nvPr/>
          </p:nvPicPr>
          <p:blipFill>
            <a:blip r:embed="rId2"/>
            <a:stretch>
              <a:fillRect/>
            </a:stretch>
          </p:blipFill>
          <p:spPr>
            <a:xfrm>
              <a:off x="6543675" y="1714500"/>
              <a:ext cx="4554474" cy="3836479"/>
            </a:xfrm>
            <a:prstGeom prst="rect">
              <a:avLst/>
            </a:prstGeom>
          </p:spPr>
        </p:pic>
        <p:sp>
          <p:nvSpPr>
            <p:cNvPr id="8" name="TextBox 8"/>
            <p:cNvSpPr txBox="1"/>
            <p:nvPr/>
          </p:nvSpPr>
          <p:spPr>
            <a:xfrm>
              <a:off x="6050280" y="5572125"/>
              <a:ext cx="4619417" cy="293370"/>
            </a:xfrm>
            <a:prstGeom prst="rect">
              <a:avLst/>
            </a:prstGeom>
            <a:noFill/>
            <a:ln>
              <a:noFill/>
            </a:ln>
          </p:spPr>
          <p:txBody>
            <a:bodyPr wrap="none" lIns="0" tIns="0" rIns="0" bIns="0" anchor="t" anchorCtr="0">
              <a:spAutoFit/>
            </a:bodyPr>
            <a:lstStyle/>
            <a:p>
              <a:pPr algn="l"/>
              <a:r>
                <a:rPr lang="en-US" sz="1500" dirty="0">
                  <a:solidFill>
                    <a:schemeClr val="accent3"/>
                  </a:solidFill>
                  <a:latin typeface="+mn-lt"/>
                  <a:ea typeface="+mn-ea"/>
                  <a:cs typeface="+mn-cs"/>
                </a:rPr>
                <a:t>Local HR workbench · Fictional demonstration data</a:t>
              </a:r>
            </a:p>
          </p:txBody>
        </p:sp>
      </p:grpSp>
      <p:grpSp>
        <p:nvGrpSpPr>
          <p:cNvPr id="11" name="p01-members"/>
          <p:cNvGrpSpPr/>
          <p:nvPr/>
        </p:nvGrpSpPr>
        <p:grpSpPr>
          <a:xfrm>
            <a:off x="598932" y="4254500"/>
            <a:ext cx="3431842" cy="829818"/>
            <a:chOff x="598932" y="4254500"/>
            <a:chExt cx="3431842" cy="829818"/>
          </a:xfrm>
        </p:grpSpPr>
        <p:sp>
          <p:nvSpPr>
            <p:cNvPr id="10" name="TextBox 10"/>
            <p:cNvSpPr txBox="1"/>
            <p:nvPr/>
          </p:nvSpPr>
          <p:spPr>
            <a:xfrm>
              <a:off x="598932" y="4254500"/>
              <a:ext cx="3431842" cy="829818"/>
            </a:xfrm>
            <a:prstGeom prst="rect">
              <a:avLst/>
            </a:prstGeom>
            <a:noFill/>
            <a:ln>
              <a:noFill/>
            </a:ln>
          </p:spPr>
          <p:txBody>
            <a:bodyPr wrap="none" lIns="0" tIns="0" rIns="0" bIns="0" anchor="t" anchorCtr="0">
              <a:spAutoFit/>
            </a:bodyPr>
            <a:lstStyle/>
            <a:p>
              <a:pPr algn="l">
                <a:lnSpc>
                  <a:spcPts val="3300"/>
                </a:lnSpc>
              </a:pPr>
              <a:r>
                <a:rPr lang="en-US" sz="2100" dirty="0">
                  <a:solidFill>
                    <a:srgbClr val="FFFFFF"/>
                  </a:solidFill>
                  <a:latin typeface="+mn-lt"/>
                  <a:ea typeface="+mn-ea"/>
                  <a:cs typeface="+mn-cs"/>
                </a:rPr>
                <a:t>Liang Bangyu · Li Yuanxiang</a:t>
              </a:r>
              <a:br>
                <a:rPr lang="en-US" sz="2100" dirty="0">
                  <a:solidFill>
                    <a:srgbClr val="FFFFFF"/>
                  </a:solidFill>
                  <a:latin typeface="+mn-lt"/>
                  <a:ea typeface="+mn-ea"/>
                  <a:cs typeface="+mn-cs"/>
                </a:rPr>
              </a:br>
              <a:r>
                <a:rPr lang="en-US" sz="2100" dirty="0">
                  <a:solidFill>
                    <a:srgbClr val="FFFFFF"/>
                  </a:solidFill>
                  <a:latin typeface="+mn-lt"/>
                  <a:ea typeface="+mn-ea"/>
                  <a:cs typeface="+mn-cs"/>
                </a:rPr>
                <a:t>Liu Yixuan · Liu Shuai</a:t>
              </a:r>
            </a:p>
          </p:txBody>
        </p:sp>
      </p:grpSp>
      <p:grpSp>
        <p:nvGrpSpPr>
          <p:cNvPr id="13" name="p01-context"/>
          <p:cNvGrpSpPr/>
          <p:nvPr/>
        </p:nvGrpSpPr>
        <p:grpSpPr>
          <a:xfrm>
            <a:off x="601980" y="6000750"/>
            <a:ext cx="5716890" cy="293370"/>
            <a:chOff x="601980" y="6000750"/>
            <a:chExt cx="5716890" cy="293370"/>
          </a:xfrm>
        </p:grpSpPr>
        <p:sp>
          <p:nvSpPr>
            <p:cNvPr id="12" name="TextBox 12"/>
            <p:cNvSpPr txBox="1"/>
            <p:nvPr/>
          </p:nvSpPr>
          <p:spPr>
            <a:xfrm>
              <a:off x="601980" y="6000750"/>
              <a:ext cx="5716890" cy="293370"/>
            </a:xfrm>
            <a:prstGeom prst="rect">
              <a:avLst/>
            </a:prstGeom>
            <a:noFill/>
            <a:ln>
              <a:noFill/>
            </a:ln>
          </p:spPr>
          <p:txBody>
            <a:bodyPr wrap="none" lIns="0" tIns="0" rIns="0" bIns="0" anchor="t" anchorCtr="0">
              <a:spAutoFit/>
            </a:bodyPr>
            <a:lstStyle/>
            <a:p>
              <a:pPr algn="l"/>
              <a:r>
                <a:rPr lang="en-US" sz="1500" dirty="0">
                  <a:solidFill>
                    <a:schemeClr val="accent3"/>
                  </a:solidFill>
                  <a:latin typeface="+mn-lt"/>
                  <a:ea typeface="+mn-ea"/>
                  <a:cs typeface="+mn-cs"/>
                </a:rPr>
                <a:t>Meiti Shangcheng · 28 October 2026 · Local release 2.1.0-flask</a:t>
              </a:r>
            </a:p>
          </p:txBody>
        </p:sp>
      </p:grpSp>
      <p:grpSp>
        <p:nvGrpSpPr>
          <p:cNvPr id="15" name="p01-page"/>
          <p:cNvGrpSpPr/>
          <p:nvPr/>
        </p:nvGrpSpPr>
        <p:grpSpPr>
          <a:xfrm>
            <a:off x="11350153" y="6229350"/>
            <a:ext cx="239867" cy="293370"/>
            <a:chOff x="11350153" y="6229350"/>
            <a:chExt cx="239867" cy="293370"/>
          </a:xfrm>
        </p:grpSpPr>
        <p:sp>
          <p:nvSpPr>
            <p:cNvPr id="14" name="TextBox 14"/>
            <p:cNvSpPr txBox="1"/>
            <p:nvPr/>
          </p:nvSpPr>
          <p:spPr>
            <a:xfrm>
              <a:off x="11350153" y="6229350"/>
              <a:ext cx="239867" cy="293370"/>
            </a:xfrm>
            <a:prstGeom prst="rect">
              <a:avLst/>
            </a:prstGeom>
            <a:noFill/>
            <a:ln>
              <a:noFill/>
            </a:ln>
          </p:spPr>
          <p:txBody>
            <a:bodyPr wrap="none" lIns="0" tIns="0" rIns="0" bIns="0" anchor="t" anchorCtr="0">
              <a:spAutoFit/>
            </a:bodyPr>
            <a:lstStyle/>
            <a:p>
              <a:pPr algn="r"/>
              <a:r>
                <a:rPr lang="en-US" sz="1500" dirty="0">
                  <a:solidFill>
                    <a:schemeClr val="accent3"/>
                  </a:solidFill>
                  <a:latin typeface="+mn-lt"/>
                  <a:ea typeface="+mn-ea"/>
                  <a:cs typeface="+mn-c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p02-title"/>
          <p:cNvGrpSpPr/>
          <p:nvPr/>
        </p:nvGrpSpPr>
        <p:grpSpPr>
          <a:xfrm>
            <a:off x="590550" y="508000"/>
            <a:ext cx="5082324" cy="819150"/>
            <a:chOff x="590550" y="508000"/>
            <a:chExt cx="5082324" cy="819150"/>
          </a:xfrm>
        </p:grpSpPr>
        <p:sp>
          <p:nvSpPr>
            <p:cNvPr id="2" name="TextBox 2"/>
            <p:cNvSpPr txBox="1"/>
            <p:nvPr/>
          </p:nvSpPr>
          <p:spPr>
            <a:xfrm>
              <a:off x="590550" y="508000"/>
              <a:ext cx="5082324" cy="819150"/>
            </a:xfrm>
            <a:prstGeom prst="rect">
              <a:avLst/>
            </a:prstGeom>
            <a:noFill/>
            <a:ln>
              <a:noFill/>
            </a:ln>
          </p:spPr>
          <p:txBody>
            <a:bodyPr wrap="none" lIns="0" tIns="0" rIns="0" bIns="0" anchor="t" anchorCtr="0">
              <a:spAutoFit/>
            </a:bodyPr>
            <a:lstStyle/>
            <a:p>
              <a:pPr algn="l"/>
              <a:r>
                <a:rPr lang="en-US" sz="4200" b="1" dirty="0">
                  <a:solidFill>
                    <a:schemeClr val="accent1"/>
                  </a:solidFill>
                  <a:latin typeface="+mn-lt"/>
                  <a:ea typeface="+mn-ea"/>
                  <a:cs typeface="+mn-cs"/>
                </a:rPr>
                <a:t>The client problem</a:t>
              </a:r>
            </a:p>
          </p:txBody>
        </p:sp>
      </p:grpSp>
      <p:grpSp>
        <p:nvGrpSpPr>
          <p:cNvPr id="5" name="p02-current-records"/>
          <p:cNvGrpSpPr/>
          <p:nvPr/>
        </p:nvGrpSpPr>
        <p:grpSpPr>
          <a:xfrm>
            <a:off x="594360" y="1774825"/>
            <a:ext cx="2465756" cy="1043940"/>
            <a:chOff x="594360" y="1774825"/>
            <a:chExt cx="2465756" cy="1043940"/>
          </a:xfrm>
        </p:grpSpPr>
        <p:sp>
          <p:nvSpPr>
            <p:cNvPr id="4" name="TextBox 4"/>
            <p:cNvSpPr txBox="1"/>
            <p:nvPr/>
          </p:nvSpPr>
          <p:spPr>
            <a:xfrm>
              <a:off x="594360" y="1774825"/>
              <a:ext cx="2465756"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dk1"/>
                  </a:solidFill>
                  <a:latin typeface="+mn-lt"/>
                  <a:ea typeface="+mn-ea"/>
                  <a:cs typeface="+mn-cs"/>
                </a:rPr>
                <a:t>Keep records</a:t>
              </a:r>
              <a:br>
                <a:rPr lang="en-US" sz="3000" b="1" dirty="0">
                  <a:solidFill>
                    <a:schemeClr val="dk1"/>
                  </a:solidFill>
                  <a:latin typeface="+mn-lt"/>
                  <a:ea typeface="+mn-ea"/>
                  <a:cs typeface="+mn-cs"/>
                </a:rPr>
              </a:br>
              <a:r>
                <a:rPr lang="en-US" sz="3000" b="1" dirty="0">
                  <a:solidFill>
                    <a:schemeClr val="dk1"/>
                  </a:solidFill>
                  <a:latin typeface="+mn-lt"/>
                  <a:ea typeface="+mn-ea"/>
                  <a:cs typeface="+mn-cs"/>
                </a:rPr>
                <a:t>current</a:t>
              </a:r>
            </a:p>
          </p:txBody>
        </p:sp>
      </p:grpSp>
      <p:grpSp>
        <p:nvGrpSpPr>
          <p:cNvPr id="7" name="p02-workforce-overview"/>
          <p:cNvGrpSpPr/>
          <p:nvPr/>
        </p:nvGrpSpPr>
        <p:grpSpPr>
          <a:xfrm>
            <a:off x="594360" y="3032125"/>
            <a:ext cx="3312566" cy="1043940"/>
            <a:chOff x="594360" y="3032125"/>
            <a:chExt cx="3312566" cy="1043940"/>
          </a:xfrm>
        </p:grpSpPr>
        <p:sp>
          <p:nvSpPr>
            <p:cNvPr id="6" name="TextBox 6"/>
            <p:cNvSpPr txBox="1"/>
            <p:nvPr/>
          </p:nvSpPr>
          <p:spPr>
            <a:xfrm>
              <a:off x="594360" y="3032125"/>
              <a:ext cx="3312566"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dk1"/>
                  </a:solidFill>
                  <a:latin typeface="+mn-lt"/>
                  <a:ea typeface="+mn-ea"/>
                  <a:cs typeface="+mn-cs"/>
                </a:rPr>
                <a:t>See the workforce</a:t>
              </a:r>
              <a:br>
                <a:rPr lang="en-US" sz="3000" b="1" dirty="0">
                  <a:solidFill>
                    <a:schemeClr val="dk1"/>
                  </a:solidFill>
                  <a:latin typeface="+mn-lt"/>
                  <a:ea typeface="+mn-ea"/>
                  <a:cs typeface="+mn-cs"/>
                </a:rPr>
              </a:br>
              <a:r>
                <a:rPr lang="en-US" sz="3000" b="1" dirty="0">
                  <a:solidFill>
                    <a:schemeClr val="dk1"/>
                  </a:solidFill>
                  <a:latin typeface="+mn-lt"/>
                  <a:ea typeface="+mn-ea"/>
                  <a:cs typeface="+mn-cs"/>
                </a:rPr>
                <a:t>clearly</a:t>
              </a:r>
            </a:p>
          </p:txBody>
        </p:sp>
      </p:grpSp>
      <p:grpSp>
        <p:nvGrpSpPr>
          <p:cNvPr id="9" name="p02-dependable-shifts"/>
          <p:cNvGrpSpPr/>
          <p:nvPr/>
        </p:nvGrpSpPr>
        <p:grpSpPr>
          <a:xfrm>
            <a:off x="594360" y="4289425"/>
            <a:ext cx="3714369" cy="1043940"/>
            <a:chOff x="594360" y="4289425"/>
            <a:chExt cx="3714369" cy="1043940"/>
          </a:xfrm>
        </p:grpSpPr>
        <p:sp>
          <p:nvSpPr>
            <p:cNvPr id="8" name="TextBox 8"/>
            <p:cNvSpPr txBox="1"/>
            <p:nvPr/>
          </p:nvSpPr>
          <p:spPr>
            <a:xfrm>
              <a:off x="594360" y="4289425"/>
              <a:ext cx="3714369"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dk1"/>
                  </a:solidFill>
                  <a:latin typeface="+mn-lt"/>
                  <a:ea typeface="+mn-ea"/>
                  <a:cs typeface="+mn-cs"/>
                </a:rPr>
                <a:t>Arrange dependable</a:t>
              </a:r>
              <a:br>
                <a:rPr lang="en-US" sz="3000" b="1" dirty="0">
                  <a:solidFill>
                    <a:schemeClr val="dk1"/>
                  </a:solidFill>
                  <a:latin typeface="+mn-lt"/>
                  <a:ea typeface="+mn-ea"/>
                  <a:cs typeface="+mn-cs"/>
                </a:rPr>
              </a:br>
              <a:r>
                <a:rPr lang="en-US" sz="3000" b="1" dirty="0">
                  <a:solidFill>
                    <a:schemeClr val="dk1"/>
                  </a:solidFill>
                  <a:latin typeface="+mn-lt"/>
                  <a:ea typeface="+mn-ea"/>
                  <a:cs typeface="+mn-cs"/>
                </a:rPr>
                <a:t>shifts</a:t>
              </a:r>
            </a:p>
          </p:txBody>
        </p:sp>
      </p:grpSp>
      <p:grpSp>
        <p:nvGrpSpPr>
          <p:cNvPr id="12" name="p02-workforce-evidence"/>
          <p:cNvGrpSpPr/>
          <p:nvPr/>
        </p:nvGrpSpPr>
        <p:grpSpPr>
          <a:xfrm>
            <a:off x="5821680" y="1809750"/>
            <a:ext cx="5278279" cy="4370070"/>
            <a:chOff x="5821680" y="1809750"/>
            <a:chExt cx="5278279" cy="4370070"/>
          </a:xfrm>
        </p:grpSpPr>
        <p:pic>
          <p:nvPicPr>
            <p:cNvPr id="10" name="Image 10"/>
            <p:cNvPicPr>
              <a:picLocks noChangeAspect="1"/>
            </p:cNvPicPr>
            <p:nvPr/>
          </p:nvPicPr>
          <p:blipFill>
            <a:blip r:embed="rId2"/>
            <a:stretch>
              <a:fillRect/>
            </a:stretch>
          </p:blipFill>
          <p:spPr>
            <a:xfrm>
              <a:off x="6286500" y="1809750"/>
              <a:ext cx="4813459" cy="3995166"/>
            </a:xfrm>
            <a:prstGeom prst="rect">
              <a:avLst/>
            </a:prstGeom>
          </p:spPr>
        </p:pic>
        <p:sp>
          <p:nvSpPr>
            <p:cNvPr id="11" name="TextBox 11"/>
            <p:cNvSpPr txBox="1"/>
            <p:nvPr/>
          </p:nvSpPr>
          <p:spPr>
            <a:xfrm>
              <a:off x="5821680" y="5886450"/>
              <a:ext cx="2916898"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HR directory · Fictional test data</a:t>
              </a:r>
            </a:p>
          </p:txBody>
        </p:sp>
      </p:grpSp>
      <p:grpSp>
        <p:nvGrpSpPr>
          <p:cNvPr id="14" name="p02-goal"/>
          <p:cNvGrpSpPr/>
          <p:nvPr/>
        </p:nvGrpSpPr>
        <p:grpSpPr>
          <a:xfrm>
            <a:off x="598932" y="5556250"/>
            <a:ext cx="2600805" cy="734568"/>
            <a:chOff x="598932" y="5556250"/>
            <a:chExt cx="2600805" cy="734568"/>
          </a:xfrm>
        </p:grpSpPr>
        <p:sp>
          <p:nvSpPr>
            <p:cNvPr id="13" name="TextBox 13"/>
            <p:cNvSpPr txBox="1"/>
            <p:nvPr/>
          </p:nvSpPr>
          <p:spPr>
            <a:xfrm>
              <a:off x="598932" y="5556250"/>
              <a:ext cx="2600805" cy="734568"/>
            </a:xfrm>
            <a:prstGeom prst="rect">
              <a:avLst/>
            </a:prstGeom>
            <a:noFill/>
            <a:ln>
              <a:noFill/>
            </a:ln>
          </p:spPr>
          <p:txBody>
            <a:bodyPr wrap="none" lIns="0" tIns="0" rIns="0" bIns="0" anchor="t" anchorCtr="0">
              <a:spAutoFit/>
            </a:bodyPr>
            <a:lstStyle/>
            <a:p>
              <a:pPr algn="l">
                <a:lnSpc>
                  <a:spcPts val="2550"/>
                </a:lnSpc>
              </a:pPr>
              <a:r>
                <a:rPr lang="en-US" sz="2100" dirty="0">
                  <a:solidFill>
                    <a:schemeClr val="accent2"/>
                  </a:solidFill>
                  <a:latin typeface="+mn-lt"/>
                  <a:ea typeface="+mn-ea"/>
                  <a:cs typeface="+mn-cs"/>
                </a:rPr>
                <a:t>A clear, persistent</a:t>
              </a:r>
              <a:br>
                <a:rPr lang="en-US" sz="2100" dirty="0">
                  <a:solidFill>
                    <a:schemeClr val="accent2"/>
                  </a:solidFill>
                  <a:latin typeface="+mn-lt"/>
                  <a:ea typeface="+mn-ea"/>
                  <a:cs typeface="+mn-cs"/>
                </a:rPr>
              </a:br>
              <a:r>
                <a:rPr lang="en-US" sz="2100" dirty="0">
                  <a:solidFill>
                    <a:schemeClr val="accent2"/>
                  </a:solidFill>
                  <a:latin typeface="+mn-lt"/>
                  <a:ea typeface="+mn-ea"/>
                  <a:cs typeface="+mn-cs"/>
                </a:rPr>
                <a:t>employee workspace.</a:t>
              </a:r>
            </a:p>
          </p:txBody>
        </p:sp>
      </p:grpSp>
      <p:grpSp>
        <p:nvGrpSpPr>
          <p:cNvPr id="16" name="p02-page"/>
          <p:cNvGrpSpPr/>
          <p:nvPr/>
        </p:nvGrpSpPr>
        <p:grpSpPr>
          <a:xfrm>
            <a:off x="11350153" y="6229350"/>
            <a:ext cx="239867" cy="293370"/>
            <a:chOff x="11350153" y="6229350"/>
            <a:chExt cx="239867" cy="293370"/>
          </a:xfrm>
        </p:grpSpPr>
        <p:sp>
          <p:nvSpPr>
            <p:cNvPr id="15" name="TextBox 15"/>
            <p:cNvSpPr txBox="1"/>
            <p:nvPr/>
          </p:nvSpPr>
          <p:spPr>
            <a:xfrm>
              <a:off x="11350153" y="6229350"/>
              <a:ext cx="239867"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p03-title"/>
          <p:cNvGrpSpPr/>
          <p:nvPr/>
        </p:nvGrpSpPr>
        <p:grpSpPr>
          <a:xfrm>
            <a:off x="590550" y="508000"/>
            <a:ext cx="7252624" cy="819150"/>
            <a:chOff x="590550" y="508000"/>
            <a:chExt cx="7252624" cy="819150"/>
          </a:xfrm>
        </p:grpSpPr>
        <p:sp>
          <p:nvSpPr>
            <p:cNvPr id="2" name="TextBox 2"/>
            <p:cNvSpPr txBox="1"/>
            <p:nvPr/>
          </p:nvSpPr>
          <p:spPr>
            <a:xfrm>
              <a:off x="590550" y="508000"/>
              <a:ext cx="7252624" cy="819150"/>
            </a:xfrm>
            <a:prstGeom prst="rect">
              <a:avLst/>
            </a:prstGeom>
            <a:noFill/>
            <a:ln>
              <a:noFill/>
            </a:ln>
          </p:spPr>
          <p:txBody>
            <a:bodyPr wrap="none" lIns="0" tIns="0" rIns="0" bIns="0" anchor="t" anchorCtr="0">
              <a:spAutoFit/>
            </a:bodyPr>
            <a:lstStyle/>
            <a:p>
              <a:pPr algn="l"/>
              <a:r>
                <a:rPr lang="en-US" sz="4200" b="1" dirty="0">
                  <a:solidFill>
                    <a:schemeClr val="accent1"/>
                  </a:solidFill>
                  <a:latin typeface="+mn-lt"/>
                  <a:ea typeface="+mn-ea"/>
                  <a:cs typeface="+mn-cs"/>
                </a:rPr>
                <a:t>Clear roles, focused scope</a:t>
              </a:r>
            </a:p>
          </p:txBody>
        </p:sp>
      </p:grpSp>
      <p:grpSp>
        <p:nvGrpSpPr>
          <p:cNvPr id="7" name="p03-hr-task"/>
          <p:cNvGrpSpPr/>
          <p:nvPr/>
        </p:nvGrpSpPr>
        <p:grpSpPr>
          <a:xfrm>
            <a:off x="592836" y="1870075"/>
            <a:ext cx="3166872" cy="2201418"/>
            <a:chOff x="592836" y="1870075"/>
            <a:chExt cx="3166872" cy="2201418"/>
          </a:xfrm>
        </p:grpSpPr>
        <p:sp>
          <p:nvSpPr>
            <p:cNvPr id="4" name="TextBox 4"/>
            <p:cNvSpPr txBox="1"/>
            <p:nvPr/>
          </p:nvSpPr>
          <p:spPr>
            <a:xfrm>
              <a:off x="592836" y="1870075"/>
              <a:ext cx="711518" cy="645414"/>
            </a:xfrm>
            <a:prstGeom prst="rect">
              <a:avLst/>
            </a:prstGeom>
            <a:noFill/>
            <a:ln>
              <a:noFill/>
            </a:ln>
          </p:spPr>
          <p:txBody>
            <a:bodyPr wrap="none" lIns="0" tIns="0" rIns="0" bIns="0" anchor="t" anchorCtr="0">
              <a:spAutoFit/>
            </a:bodyPr>
            <a:lstStyle/>
            <a:p>
              <a:pPr algn="l"/>
              <a:r>
                <a:rPr lang="en-US" sz="3300" b="1" dirty="0">
                  <a:solidFill>
                    <a:schemeClr val="accent2"/>
                  </a:solidFill>
                  <a:latin typeface="+mn-lt"/>
                  <a:ea typeface="+mn-ea"/>
                  <a:cs typeface="+mn-cs"/>
                </a:rPr>
                <a:t>HR</a:t>
              </a:r>
            </a:p>
          </p:txBody>
        </p:sp>
        <p:sp>
          <p:nvSpPr>
            <p:cNvPr id="5" name="TextBox 5"/>
            <p:cNvSpPr txBox="1"/>
            <p:nvPr/>
          </p:nvSpPr>
          <p:spPr>
            <a:xfrm>
              <a:off x="594360" y="2632075"/>
              <a:ext cx="3165348" cy="1043940"/>
            </a:xfrm>
            <a:prstGeom prst="rect">
              <a:avLst/>
            </a:prstGeom>
            <a:noFill/>
            <a:ln>
              <a:noFill/>
            </a:ln>
          </p:spPr>
          <p:txBody>
            <a:bodyPr wrap="none" lIns="0" tIns="0" rIns="0" bIns="0" anchor="t" anchorCtr="0">
              <a:spAutoFit/>
            </a:bodyPr>
            <a:lstStyle/>
            <a:p>
              <a:pPr algn="l">
                <a:lnSpc>
                  <a:spcPts val="3600"/>
                </a:lnSpc>
              </a:pPr>
              <a:r>
                <a:rPr lang="en-US" sz="3000" dirty="0">
                  <a:solidFill>
                    <a:schemeClr val="dk1"/>
                  </a:solidFill>
                  <a:latin typeface="+mn-lt"/>
                  <a:ea typeface="+mn-ea"/>
                  <a:cs typeface="+mn-cs"/>
                </a:rPr>
                <a:t>Manage employee</a:t>
              </a:r>
              <a:br>
                <a:rPr lang="en-US" sz="3000" dirty="0">
                  <a:solidFill>
                    <a:schemeClr val="dk1"/>
                  </a:solidFill>
                  <a:latin typeface="+mn-lt"/>
                  <a:ea typeface="+mn-ea"/>
                  <a:cs typeface="+mn-cs"/>
                </a:rPr>
              </a:br>
              <a:r>
                <a:rPr lang="en-US" sz="3000" dirty="0">
                  <a:solidFill>
                    <a:schemeClr val="dk1"/>
                  </a:solidFill>
                  <a:latin typeface="+mn-lt"/>
                  <a:ea typeface="+mn-ea"/>
                  <a:cs typeface="+mn-cs"/>
                </a:rPr>
                <a:t>records</a:t>
              </a:r>
            </a:p>
          </p:txBody>
        </p:sp>
        <p:sp>
          <p:nvSpPr>
            <p:cNvPr id="6" name="TextBox 6"/>
            <p:cNvSpPr txBox="1"/>
            <p:nvPr/>
          </p:nvSpPr>
          <p:spPr>
            <a:xfrm>
              <a:off x="598932" y="3660775"/>
              <a:ext cx="2401937"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Find · filter · export</a:t>
              </a:r>
            </a:p>
          </p:txBody>
        </p:sp>
      </p:grpSp>
      <p:grpSp>
        <p:nvGrpSpPr>
          <p:cNvPr id="11" name="p03-supervisor-task"/>
          <p:cNvGrpSpPr/>
          <p:nvPr/>
        </p:nvGrpSpPr>
        <p:grpSpPr>
          <a:xfrm>
            <a:off x="4288536" y="1870075"/>
            <a:ext cx="2675866" cy="2201418"/>
            <a:chOff x="4288536" y="1870075"/>
            <a:chExt cx="2675866" cy="2201418"/>
          </a:xfrm>
        </p:grpSpPr>
        <p:sp>
          <p:nvSpPr>
            <p:cNvPr id="8" name="TextBox 8"/>
            <p:cNvSpPr txBox="1"/>
            <p:nvPr/>
          </p:nvSpPr>
          <p:spPr>
            <a:xfrm>
              <a:off x="4288536" y="1870075"/>
              <a:ext cx="2367495" cy="645414"/>
            </a:xfrm>
            <a:prstGeom prst="rect">
              <a:avLst/>
            </a:prstGeom>
            <a:noFill/>
            <a:ln>
              <a:noFill/>
            </a:ln>
          </p:spPr>
          <p:txBody>
            <a:bodyPr wrap="none" lIns="0" tIns="0" rIns="0" bIns="0" anchor="t" anchorCtr="0">
              <a:spAutoFit/>
            </a:bodyPr>
            <a:lstStyle/>
            <a:p>
              <a:pPr algn="l"/>
              <a:r>
                <a:rPr lang="en-US" sz="3300" b="1" dirty="0">
                  <a:solidFill>
                    <a:schemeClr val="accent2"/>
                  </a:solidFill>
                  <a:latin typeface="+mn-lt"/>
                  <a:ea typeface="+mn-ea"/>
                  <a:cs typeface="+mn-cs"/>
                </a:rPr>
                <a:t>Supervisor</a:t>
              </a:r>
            </a:p>
          </p:txBody>
        </p:sp>
        <p:sp>
          <p:nvSpPr>
            <p:cNvPr id="9" name="TextBox 9"/>
            <p:cNvSpPr txBox="1"/>
            <p:nvPr/>
          </p:nvSpPr>
          <p:spPr>
            <a:xfrm>
              <a:off x="4290060" y="2632075"/>
              <a:ext cx="2466365" cy="1043940"/>
            </a:xfrm>
            <a:prstGeom prst="rect">
              <a:avLst/>
            </a:prstGeom>
            <a:noFill/>
            <a:ln>
              <a:noFill/>
            </a:ln>
          </p:spPr>
          <p:txBody>
            <a:bodyPr wrap="none" lIns="0" tIns="0" rIns="0" bIns="0" anchor="t" anchorCtr="0">
              <a:spAutoFit/>
            </a:bodyPr>
            <a:lstStyle/>
            <a:p>
              <a:pPr algn="l">
                <a:lnSpc>
                  <a:spcPts val="3600"/>
                </a:lnSpc>
              </a:pPr>
              <a:r>
                <a:rPr lang="en-US" sz="3000" dirty="0">
                  <a:solidFill>
                    <a:schemeClr val="dk1"/>
                  </a:solidFill>
                  <a:latin typeface="+mn-lt"/>
                  <a:ea typeface="+mn-ea"/>
                  <a:cs typeface="+mn-cs"/>
                </a:rPr>
                <a:t>Schedule their</a:t>
              </a:r>
              <a:br>
                <a:rPr lang="en-US" sz="3000" dirty="0">
                  <a:solidFill>
                    <a:schemeClr val="dk1"/>
                  </a:solidFill>
                  <a:latin typeface="+mn-lt"/>
                  <a:ea typeface="+mn-ea"/>
                  <a:cs typeface="+mn-cs"/>
                </a:rPr>
              </a:br>
              <a:r>
                <a:rPr lang="en-US" sz="3000" dirty="0">
                  <a:solidFill>
                    <a:schemeClr val="dk1"/>
                  </a:solidFill>
                  <a:latin typeface="+mn-lt"/>
                  <a:ea typeface="+mn-ea"/>
                  <a:cs typeface="+mn-cs"/>
                </a:rPr>
                <a:t>own team</a:t>
              </a:r>
            </a:p>
          </p:txBody>
        </p:sp>
        <p:sp>
          <p:nvSpPr>
            <p:cNvPr id="10" name="TextBox 10"/>
            <p:cNvSpPr txBox="1"/>
            <p:nvPr/>
          </p:nvSpPr>
          <p:spPr>
            <a:xfrm>
              <a:off x="4294632" y="3660775"/>
              <a:ext cx="2669770"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Manual draft · review</a:t>
              </a:r>
            </a:p>
          </p:txBody>
        </p:sp>
      </p:grpSp>
      <p:grpSp>
        <p:nvGrpSpPr>
          <p:cNvPr id="15" name="p03-employee-task"/>
          <p:cNvGrpSpPr/>
          <p:nvPr/>
        </p:nvGrpSpPr>
        <p:grpSpPr>
          <a:xfrm>
            <a:off x="8022336" y="1870075"/>
            <a:ext cx="2657780" cy="2201418"/>
            <a:chOff x="8022336" y="1870075"/>
            <a:chExt cx="2657780" cy="2201418"/>
          </a:xfrm>
        </p:grpSpPr>
        <p:sp>
          <p:nvSpPr>
            <p:cNvPr id="12" name="TextBox 12"/>
            <p:cNvSpPr txBox="1"/>
            <p:nvPr/>
          </p:nvSpPr>
          <p:spPr>
            <a:xfrm>
              <a:off x="8022336" y="1870075"/>
              <a:ext cx="2147084" cy="645414"/>
            </a:xfrm>
            <a:prstGeom prst="rect">
              <a:avLst/>
            </a:prstGeom>
            <a:noFill/>
            <a:ln>
              <a:noFill/>
            </a:ln>
          </p:spPr>
          <p:txBody>
            <a:bodyPr wrap="none" lIns="0" tIns="0" rIns="0" bIns="0" anchor="t" anchorCtr="0">
              <a:spAutoFit/>
            </a:bodyPr>
            <a:lstStyle/>
            <a:p>
              <a:pPr algn="l"/>
              <a:r>
                <a:rPr lang="en-US" sz="3300" b="1" dirty="0">
                  <a:solidFill>
                    <a:schemeClr val="accent2"/>
                  </a:solidFill>
                  <a:latin typeface="+mn-lt"/>
                  <a:ea typeface="+mn-ea"/>
                  <a:cs typeface="+mn-cs"/>
                </a:rPr>
                <a:t>Employee</a:t>
              </a:r>
            </a:p>
          </p:txBody>
        </p:sp>
        <p:sp>
          <p:nvSpPr>
            <p:cNvPr id="13" name="TextBox 13"/>
            <p:cNvSpPr txBox="1"/>
            <p:nvPr/>
          </p:nvSpPr>
          <p:spPr>
            <a:xfrm>
              <a:off x="8023860" y="2632075"/>
              <a:ext cx="2656256" cy="1043940"/>
            </a:xfrm>
            <a:prstGeom prst="rect">
              <a:avLst/>
            </a:prstGeom>
            <a:noFill/>
            <a:ln>
              <a:noFill/>
            </a:ln>
          </p:spPr>
          <p:txBody>
            <a:bodyPr wrap="none" lIns="0" tIns="0" rIns="0" bIns="0" anchor="t" anchorCtr="0">
              <a:spAutoFit/>
            </a:bodyPr>
            <a:lstStyle/>
            <a:p>
              <a:pPr algn="l">
                <a:lnSpc>
                  <a:spcPts val="3600"/>
                </a:lnSpc>
              </a:pPr>
              <a:r>
                <a:rPr lang="en-US" sz="3000" dirty="0">
                  <a:solidFill>
                    <a:schemeClr val="dk1"/>
                  </a:solidFill>
                  <a:latin typeface="+mn-lt"/>
                  <a:ea typeface="+mn-ea"/>
                  <a:cs typeface="+mn-cs"/>
                </a:rPr>
                <a:t>View own shifts</a:t>
              </a:r>
              <a:br>
                <a:rPr lang="en-US" sz="3000" dirty="0">
                  <a:solidFill>
                    <a:schemeClr val="dk1"/>
                  </a:solidFill>
                  <a:latin typeface="+mn-lt"/>
                  <a:ea typeface="+mn-ea"/>
                  <a:cs typeface="+mn-cs"/>
                </a:rPr>
              </a:br>
              <a:r>
                <a:rPr lang="en-US" sz="3000" dirty="0">
                  <a:solidFill>
                    <a:schemeClr val="dk1"/>
                  </a:solidFill>
                  <a:latin typeface="+mn-lt"/>
                  <a:ea typeface="+mn-ea"/>
                  <a:cs typeface="+mn-cs"/>
                </a:rPr>
                <a:t>and check in</a:t>
              </a:r>
            </a:p>
          </p:txBody>
        </p:sp>
        <p:sp>
          <p:nvSpPr>
            <p:cNvPr id="14" name="TextBox 14"/>
            <p:cNvSpPr txBox="1"/>
            <p:nvPr/>
          </p:nvSpPr>
          <p:spPr>
            <a:xfrm>
              <a:off x="8028432" y="3660775"/>
              <a:ext cx="2433371"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Own shifts · history</a:t>
              </a:r>
            </a:p>
          </p:txBody>
        </p:sp>
      </p:grpSp>
      <p:grpSp>
        <p:nvGrpSpPr>
          <p:cNvPr id="17" name="p03-benefits"/>
          <p:cNvGrpSpPr/>
          <p:nvPr/>
        </p:nvGrpSpPr>
        <p:grpSpPr>
          <a:xfrm>
            <a:off x="592836" y="4689475"/>
            <a:ext cx="9489027" cy="645414"/>
            <a:chOff x="592836" y="4689475"/>
            <a:chExt cx="9489027" cy="645414"/>
          </a:xfrm>
        </p:grpSpPr>
        <p:sp>
          <p:nvSpPr>
            <p:cNvPr id="16" name="TextBox 16"/>
            <p:cNvSpPr txBox="1"/>
            <p:nvPr/>
          </p:nvSpPr>
          <p:spPr>
            <a:xfrm>
              <a:off x="592836" y="4689475"/>
              <a:ext cx="9489027"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Scoped access. Valid weeks. Saved records.</a:t>
              </a:r>
            </a:p>
          </p:txBody>
        </p:sp>
      </p:grpSp>
      <p:grpSp>
        <p:nvGrpSpPr>
          <p:cNvPr id="19" name="p03-scope-limit"/>
          <p:cNvGrpSpPr/>
          <p:nvPr/>
        </p:nvGrpSpPr>
        <p:grpSpPr>
          <a:xfrm>
            <a:off x="598932" y="5765800"/>
            <a:ext cx="8295898" cy="410718"/>
            <a:chOff x="598932" y="5765800"/>
            <a:chExt cx="8295898" cy="410718"/>
          </a:xfrm>
        </p:grpSpPr>
        <p:sp>
          <p:nvSpPr>
            <p:cNvPr id="18" name="TextBox 18"/>
            <p:cNvSpPr txBox="1"/>
            <p:nvPr/>
          </p:nvSpPr>
          <p:spPr>
            <a:xfrm>
              <a:off x="598932" y="5765800"/>
              <a:ext cx="8295898"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Excluded: inventory, automatic scheduling and payroll processing.</a:t>
              </a:r>
            </a:p>
          </p:txBody>
        </p:sp>
      </p:grpSp>
      <p:grpSp>
        <p:nvGrpSpPr>
          <p:cNvPr id="21" name="p03-page"/>
          <p:cNvGrpSpPr/>
          <p:nvPr/>
        </p:nvGrpSpPr>
        <p:grpSpPr>
          <a:xfrm>
            <a:off x="11350153" y="6229350"/>
            <a:ext cx="239867" cy="293370"/>
            <a:chOff x="11350153" y="6229350"/>
            <a:chExt cx="239867" cy="293370"/>
          </a:xfrm>
        </p:grpSpPr>
        <p:sp>
          <p:nvSpPr>
            <p:cNvPr id="20" name="TextBox 20"/>
            <p:cNvSpPr txBox="1"/>
            <p:nvPr/>
          </p:nvSpPr>
          <p:spPr>
            <a:xfrm>
              <a:off x="11350153" y="6229350"/>
              <a:ext cx="239867"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p04-title"/>
          <p:cNvGrpSpPr/>
          <p:nvPr/>
        </p:nvGrpSpPr>
        <p:grpSpPr>
          <a:xfrm>
            <a:off x="590550" y="508000"/>
            <a:ext cx="8038645" cy="819150"/>
            <a:chOff x="590550" y="508000"/>
            <a:chExt cx="8038645" cy="819150"/>
          </a:xfrm>
        </p:grpSpPr>
        <p:sp>
          <p:nvSpPr>
            <p:cNvPr id="2" name="TextBox 2"/>
            <p:cNvSpPr txBox="1"/>
            <p:nvPr/>
          </p:nvSpPr>
          <p:spPr>
            <a:xfrm>
              <a:off x="590550" y="508000"/>
              <a:ext cx="8038645" cy="819150"/>
            </a:xfrm>
            <a:prstGeom prst="rect">
              <a:avLst/>
            </a:prstGeom>
            <a:noFill/>
            <a:ln>
              <a:noFill/>
            </a:ln>
          </p:spPr>
          <p:txBody>
            <a:bodyPr wrap="none" lIns="0" tIns="0" rIns="0" bIns="0" anchor="t" anchorCtr="0">
              <a:spAutoFit/>
            </a:bodyPr>
            <a:lstStyle/>
            <a:p>
              <a:pPr algn="l"/>
              <a:r>
                <a:rPr lang="en-US" sz="4200" b="1" dirty="0">
                  <a:solidFill>
                    <a:srgbClr val="FFFFFF"/>
                  </a:solidFill>
                  <a:latin typeface="+mn-lt"/>
                  <a:ea typeface="+mn-ea"/>
                  <a:cs typeface="+mn-cs"/>
                </a:rPr>
                <a:t>Five deliverables, one release</a:t>
              </a:r>
            </a:p>
          </p:txBody>
        </p:sp>
      </p:grpSp>
      <p:grpSp>
        <p:nvGrpSpPr>
          <p:cNvPr id="24" name="p04-artifact-flow"/>
          <p:cNvGrpSpPr/>
          <p:nvPr/>
        </p:nvGrpSpPr>
        <p:grpSpPr>
          <a:xfrm>
            <a:off x="594360" y="1803400"/>
            <a:ext cx="10080969" cy="2153793"/>
            <a:chOff x="594360" y="1803400"/>
            <a:chExt cx="10080969" cy="2153793"/>
          </a:xfrm>
        </p:grpSpPr>
        <p:grpSp>
          <p:nvGrpSpPr>
            <p:cNvPr id="7" name="p04-artifact-links"/>
            <p:cNvGrpSpPr/>
            <p:nvPr/>
          </p:nvGrpSpPr>
          <p:grpSpPr>
            <a:xfrm>
              <a:off x="2876550" y="2667000"/>
              <a:ext cx="5943600" cy="1"/>
              <a:chOff x="2876550" y="2667000"/>
              <a:chExt cx="5943600" cy="1"/>
            </a:xfrm>
          </p:grpSpPr>
          <p:sp>
            <p:nvSpPr>
              <p:cNvPr id="4" name="Line 4"/>
              <p:cNvSpPr/>
              <p:nvPr/>
            </p:nvSpPr>
            <p:spPr>
              <a:xfrm>
                <a:off x="2876550" y="2667000"/>
                <a:ext cx="457200" cy="1"/>
              </a:xfrm>
              <a:prstGeom prst="line">
                <a:avLst/>
              </a:prstGeom>
              <a:noFill/>
              <a:ln w="19050">
                <a:solidFill>
                  <a:schemeClr val="accent3"/>
                </a:solidFill>
                <a:tailEnd type="triangle" w="lg" len="lg"/>
              </a:ln>
            </p:spPr>
          </p:sp>
          <p:sp>
            <p:nvSpPr>
              <p:cNvPr id="5" name="Line 5"/>
              <p:cNvSpPr/>
              <p:nvPr/>
            </p:nvSpPr>
            <p:spPr>
              <a:xfrm>
                <a:off x="5619750" y="2667000"/>
                <a:ext cx="457200" cy="1"/>
              </a:xfrm>
              <a:prstGeom prst="line">
                <a:avLst/>
              </a:prstGeom>
              <a:noFill/>
              <a:ln w="19050">
                <a:solidFill>
                  <a:schemeClr val="accent3"/>
                </a:solidFill>
                <a:tailEnd type="triangle" w="lg" len="lg"/>
              </a:ln>
            </p:spPr>
          </p:sp>
          <p:sp>
            <p:nvSpPr>
              <p:cNvPr id="6" name="Line 6"/>
              <p:cNvSpPr/>
              <p:nvPr/>
            </p:nvSpPr>
            <p:spPr>
              <a:xfrm>
                <a:off x="8362950" y="2667000"/>
                <a:ext cx="457200" cy="1"/>
              </a:xfrm>
              <a:prstGeom prst="line">
                <a:avLst/>
              </a:prstGeom>
              <a:noFill/>
              <a:ln w="19050">
                <a:solidFill>
                  <a:schemeClr val="accent3"/>
                </a:solidFill>
                <a:tailEnd type="triangle" w="lg" len="lg"/>
              </a:ln>
            </p:spPr>
          </p:sp>
        </p:grpSp>
        <p:grpSp>
          <p:nvGrpSpPr>
            <p:cNvPr id="11" name="p04-plan"/>
            <p:cNvGrpSpPr/>
            <p:nvPr/>
          </p:nvGrpSpPr>
          <p:grpSpPr>
            <a:xfrm>
              <a:off x="594360" y="1803400"/>
              <a:ext cx="1322146" cy="2153793"/>
              <a:chOff x="594360" y="1803400"/>
              <a:chExt cx="1322146" cy="2153793"/>
            </a:xfrm>
          </p:grpSpPr>
          <p:sp>
            <p:nvSpPr>
              <p:cNvPr id="8" name="TextBox 8"/>
              <p:cNvSpPr txBox="1"/>
              <p:nvPr/>
            </p:nvSpPr>
            <p:spPr>
              <a:xfrm>
                <a:off x="598932" y="1803400"/>
                <a:ext cx="335814"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01</a:t>
                </a:r>
              </a:p>
            </p:txBody>
          </p:sp>
          <p:sp>
            <p:nvSpPr>
              <p:cNvPr id="9" name="TextBox 9"/>
              <p:cNvSpPr txBox="1"/>
              <p:nvPr/>
            </p:nvSpPr>
            <p:spPr>
              <a:xfrm>
                <a:off x="594360" y="2241550"/>
                <a:ext cx="1322146" cy="1005840"/>
              </a:xfrm>
              <a:prstGeom prst="rect">
                <a:avLst/>
              </a:prstGeom>
              <a:noFill/>
              <a:ln>
                <a:noFill/>
              </a:ln>
            </p:spPr>
            <p:txBody>
              <a:bodyPr wrap="none" lIns="0" tIns="0" rIns="0" bIns="0" anchor="t" anchorCtr="0">
                <a:spAutoFit/>
              </a:bodyPr>
              <a:lstStyle/>
              <a:p>
                <a:pPr algn="l">
                  <a:lnSpc>
                    <a:spcPts val="3300"/>
                  </a:lnSpc>
                </a:pPr>
                <a:r>
                  <a:rPr lang="en-US" sz="3000" b="1" dirty="0">
                    <a:solidFill>
                      <a:srgbClr val="FFFFFF"/>
                    </a:solidFill>
                    <a:latin typeface="+mn-lt"/>
                    <a:ea typeface="+mn-ea"/>
                    <a:cs typeface="+mn-cs"/>
                  </a:rPr>
                  <a:t>Project</a:t>
                </a:r>
                <a:br>
                  <a:rPr lang="en-US" sz="3000" b="1" dirty="0">
                    <a:solidFill>
                      <a:srgbClr val="FFFFFF"/>
                    </a:solidFill>
                    <a:latin typeface="+mn-lt"/>
                    <a:ea typeface="+mn-ea"/>
                    <a:cs typeface="+mn-cs"/>
                  </a:rPr>
                </a:br>
                <a:r>
                  <a:rPr lang="en-US" sz="3000" b="1" dirty="0">
                    <a:solidFill>
                      <a:srgbClr val="FFFFFF"/>
                    </a:solidFill>
                    <a:latin typeface="+mn-lt"/>
                    <a:ea typeface="+mn-ea"/>
                    <a:cs typeface="+mn-cs"/>
                  </a:rPr>
                  <a:t>Plan</a:t>
                </a:r>
              </a:p>
            </p:txBody>
          </p:sp>
          <p:sp>
            <p:nvSpPr>
              <p:cNvPr id="10" name="TextBox 10"/>
              <p:cNvSpPr txBox="1"/>
              <p:nvPr/>
            </p:nvSpPr>
            <p:spPr>
              <a:xfrm>
                <a:off x="598932" y="3222625"/>
                <a:ext cx="1296695" cy="734568"/>
              </a:xfrm>
              <a:prstGeom prst="rect">
                <a:avLst/>
              </a:prstGeom>
              <a:noFill/>
              <a:ln>
                <a:noFill/>
              </a:ln>
            </p:spPr>
            <p:txBody>
              <a:bodyPr wrap="none" lIns="0" tIns="0" rIns="0" bIns="0" anchor="t" anchorCtr="0">
                <a:spAutoFit/>
              </a:bodyPr>
              <a:lstStyle/>
              <a:p>
                <a:pPr algn="l">
                  <a:lnSpc>
                    <a:spcPts val="2550"/>
                  </a:lnSpc>
                </a:pPr>
                <a:r>
                  <a:rPr lang="en-US" sz="2100" dirty="0">
                    <a:solidFill>
                      <a:srgbClr val="FFFFFF"/>
                    </a:solidFill>
                    <a:latin typeface="+mn-lt"/>
                    <a:ea typeface="+mn-ea"/>
                    <a:cs typeface="+mn-cs"/>
                  </a:rPr>
                  <a:t>Scope and</a:t>
                </a:r>
                <a:br>
                  <a:rPr lang="en-US" sz="2100" dirty="0">
                    <a:solidFill>
                      <a:srgbClr val="FFFFFF"/>
                    </a:solidFill>
                    <a:latin typeface="+mn-lt"/>
                    <a:ea typeface="+mn-ea"/>
                    <a:cs typeface="+mn-cs"/>
                  </a:rPr>
                </a:br>
                <a:r>
                  <a:rPr lang="en-US" sz="2100" dirty="0">
                    <a:solidFill>
                      <a:srgbClr val="FFFFFF"/>
                    </a:solidFill>
                    <a:latin typeface="+mn-lt"/>
                    <a:ea typeface="+mn-ea"/>
                    <a:cs typeface="+mn-cs"/>
                  </a:rPr>
                  <a:t>delivery</a:t>
                </a:r>
              </a:p>
            </p:txBody>
          </p:sp>
        </p:grpSp>
        <p:grpSp>
          <p:nvGrpSpPr>
            <p:cNvPr id="15" name="p04-urs"/>
            <p:cNvGrpSpPr/>
            <p:nvPr/>
          </p:nvGrpSpPr>
          <p:grpSpPr>
            <a:xfrm>
              <a:off x="3337560" y="1803400"/>
              <a:ext cx="1597678" cy="2153793"/>
              <a:chOff x="3337560" y="1803400"/>
              <a:chExt cx="1597678" cy="2153793"/>
            </a:xfrm>
          </p:grpSpPr>
          <p:sp>
            <p:nvSpPr>
              <p:cNvPr id="12" name="TextBox 12"/>
              <p:cNvSpPr txBox="1"/>
              <p:nvPr/>
            </p:nvSpPr>
            <p:spPr>
              <a:xfrm>
                <a:off x="3342132" y="1803400"/>
                <a:ext cx="335814"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02</a:t>
                </a:r>
              </a:p>
            </p:txBody>
          </p:sp>
          <p:sp>
            <p:nvSpPr>
              <p:cNvPr id="13" name="TextBox 13"/>
              <p:cNvSpPr txBox="1"/>
              <p:nvPr/>
            </p:nvSpPr>
            <p:spPr>
              <a:xfrm>
                <a:off x="3337560" y="2413000"/>
                <a:ext cx="931457"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mn-lt"/>
                    <a:ea typeface="+mn-ea"/>
                    <a:cs typeface="+mn-cs"/>
                  </a:rPr>
                  <a:t>URS</a:t>
                </a:r>
              </a:p>
            </p:txBody>
          </p:sp>
          <p:sp>
            <p:nvSpPr>
              <p:cNvPr id="14" name="TextBox 14"/>
              <p:cNvSpPr txBox="1"/>
              <p:nvPr/>
            </p:nvSpPr>
            <p:spPr>
              <a:xfrm>
                <a:off x="3342132" y="3222625"/>
                <a:ext cx="1593106" cy="734568"/>
              </a:xfrm>
              <a:prstGeom prst="rect">
                <a:avLst/>
              </a:prstGeom>
              <a:noFill/>
              <a:ln>
                <a:noFill/>
              </a:ln>
            </p:spPr>
            <p:txBody>
              <a:bodyPr wrap="none" lIns="0" tIns="0" rIns="0" bIns="0" anchor="t" anchorCtr="0">
                <a:spAutoFit/>
              </a:bodyPr>
              <a:lstStyle/>
              <a:p>
                <a:pPr algn="l">
                  <a:lnSpc>
                    <a:spcPts val="2550"/>
                  </a:lnSpc>
                </a:pPr>
                <a:r>
                  <a:rPr lang="en-US" sz="2100" dirty="0">
                    <a:solidFill>
                      <a:srgbClr val="FFFFFF"/>
                    </a:solidFill>
                    <a:latin typeface="+mn-lt"/>
                    <a:ea typeface="+mn-ea"/>
                    <a:cs typeface="+mn-cs"/>
                  </a:rPr>
                  <a:t>Behavior and</a:t>
                </a:r>
                <a:br>
                  <a:rPr lang="en-US" sz="2100" dirty="0">
                    <a:solidFill>
                      <a:srgbClr val="FFFFFF"/>
                    </a:solidFill>
                    <a:latin typeface="+mn-lt"/>
                    <a:ea typeface="+mn-ea"/>
                    <a:cs typeface="+mn-cs"/>
                  </a:rPr>
                </a:br>
                <a:r>
                  <a:rPr lang="en-US" sz="2100" dirty="0">
                    <a:solidFill>
                      <a:srgbClr val="FFFFFF"/>
                    </a:solidFill>
                    <a:latin typeface="+mn-lt"/>
                    <a:ea typeface="+mn-ea"/>
                    <a:cs typeface="+mn-cs"/>
                  </a:rPr>
                  <a:t>acceptance</a:t>
                </a:r>
              </a:p>
            </p:txBody>
          </p:sp>
        </p:grpSp>
        <p:grpSp>
          <p:nvGrpSpPr>
            <p:cNvPr id="19" name="p04-class"/>
            <p:cNvGrpSpPr/>
            <p:nvPr/>
          </p:nvGrpSpPr>
          <p:grpSpPr>
            <a:xfrm>
              <a:off x="6080760" y="1803400"/>
              <a:ext cx="1671607" cy="2153793"/>
              <a:chOff x="6080760" y="1803400"/>
              <a:chExt cx="1671607" cy="2153793"/>
            </a:xfrm>
          </p:grpSpPr>
          <p:sp>
            <p:nvSpPr>
              <p:cNvPr id="16" name="TextBox 16"/>
              <p:cNvSpPr txBox="1"/>
              <p:nvPr/>
            </p:nvSpPr>
            <p:spPr>
              <a:xfrm>
                <a:off x="6085332" y="1803400"/>
                <a:ext cx="335814"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03</a:t>
                </a:r>
              </a:p>
            </p:txBody>
          </p:sp>
          <p:sp>
            <p:nvSpPr>
              <p:cNvPr id="17" name="TextBox 17"/>
              <p:cNvSpPr txBox="1"/>
              <p:nvPr/>
            </p:nvSpPr>
            <p:spPr>
              <a:xfrm>
                <a:off x="6080760" y="2241550"/>
                <a:ext cx="1152449" cy="1005840"/>
              </a:xfrm>
              <a:prstGeom prst="rect">
                <a:avLst/>
              </a:prstGeom>
              <a:noFill/>
              <a:ln>
                <a:noFill/>
              </a:ln>
            </p:spPr>
            <p:txBody>
              <a:bodyPr wrap="none" lIns="0" tIns="0" rIns="0" bIns="0" anchor="t" anchorCtr="0">
                <a:spAutoFit/>
              </a:bodyPr>
              <a:lstStyle/>
              <a:p>
                <a:pPr algn="l">
                  <a:lnSpc>
                    <a:spcPts val="3300"/>
                  </a:lnSpc>
                </a:pPr>
                <a:r>
                  <a:rPr lang="en-US" sz="3000" b="1" dirty="0">
                    <a:solidFill>
                      <a:srgbClr val="FFFFFF"/>
                    </a:solidFill>
                    <a:latin typeface="+mn-lt"/>
                    <a:ea typeface="+mn-ea"/>
                    <a:cs typeface="+mn-cs"/>
                  </a:rPr>
                  <a:t>Class</a:t>
                </a:r>
                <a:br>
                  <a:rPr lang="en-US" sz="3000" b="1" dirty="0">
                    <a:solidFill>
                      <a:srgbClr val="FFFFFF"/>
                    </a:solidFill>
                    <a:latin typeface="+mn-lt"/>
                    <a:ea typeface="+mn-ea"/>
                    <a:cs typeface="+mn-cs"/>
                  </a:rPr>
                </a:br>
                <a:r>
                  <a:rPr lang="en-US" sz="3000" b="1" dirty="0">
                    <a:solidFill>
                      <a:srgbClr val="FFFFFF"/>
                    </a:solidFill>
                    <a:latin typeface="+mn-lt"/>
                    <a:ea typeface="+mn-ea"/>
                    <a:cs typeface="+mn-cs"/>
                  </a:rPr>
                  <a:t>model</a:t>
                </a:r>
              </a:p>
            </p:txBody>
          </p:sp>
          <p:sp>
            <p:nvSpPr>
              <p:cNvPr id="18" name="TextBox 18"/>
              <p:cNvSpPr txBox="1"/>
              <p:nvPr/>
            </p:nvSpPr>
            <p:spPr>
              <a:xfrm>
                <a:off x="6085332" y="3222625"/>
                <a:ext cx="1667035" cy="734568"/>
              </a:xfrm>
              <a:prstGeom prst="rect">
                <a:avLst/>
              </a:prstGeom>
              <a:noFill/>
              <a:ln>
                <a:noFill/>
              </a:ln>
            </p:spPr>
            <p:txBody>
              <a:bodyPr wrap="none" lIns="0" tIns="0" rIns="0" bIns="0" anchor="t" anchorCtr="0">
                <a:spAutoFit/>
              </a:bodyPr>
              <a:lstStyle/>
              <a:p>
                <a:pPr algn="l">
                  <a:lnSpc>
                    <a:spcPts val="2550"/>
                  </a:lnSpc>
                </a:pPr>
                <a:r>
                  <a:rPr lang="en-US" sz="2100" dirty="0">
                    <a:solidFill>
                      <a:srgbClr val="FFFFFF"/>
                    </a:solidFill>
                    <a:latin typeface="+mn-lt"/>
                    <a:ea typeface="+mn-ea"/>
                    <a:cs typeface="+mn-cs"/>
                  </a:rPr>
                  <a:t>Actual Python</a:t>
                </a:r>
                <a:br>
                  <a:rPr lang="en-US" sz="2100" dirty="0">
                    <a:solidFill>
                      <a:srgbClr val="FFFFFF"/>
                    </a:solidFill>
                    <a:latin typeface="+mn-lt"/>
                    <a:ea typeface="+mn-ea"/>
                    <a:cs typeface="+mn-cs"/>
                  </a:rPr>
                </a:br>
                <a:r>
                  <a:rPr lang="en-US" sz="2100" dirty="0">
                    <a:solidFill>
                      <a:srgbClr val="FFFFFF"/>
                    </a:solidFill>
                    <a:latin typeface="+mn-lt"/>
                    <a:ea typeface="+mn-ea"/>
                    <a:cs typeface="+mn-cs"/>
                  </a:rPr>
                  <a:t>models</a:t>
                </a:r>
              </a:p>
            </p:txBody>
          </p:sp>
        </p:grpSp>
        <p:grpSp>
          <p:nvGrpSpPr>
            <p:cNvPr id="23" name="p04-test"/>
            <p:cNvGrpSpPr/>
            <p:nvPr/>
          </p:nvGrpSpPr>
          <p:grpSpPr>
            <a:xfrm>
              <a:off x="8823960" y="1803400"/>
              <a:ext cx="1851369" cy="2153793"/>
              <a:chOff x="8823960" y="1803400"/>
              <a:chExt cx="1851369" cy="2153793"/>
            </a:xfrm>
          </p:grpSpPr>
          <p:sp>
            <p:nvSpPr>
              <p:cNvPr id="20" name="TextBox 20"/>
              <p:cNvSpPr txBox="1"/>
              <p:nvPr/>
            </p:nvSpPr>
            <p:spPr>
              <a:xfrm>
                <a:off x="8828532" y="1803400"/>
                <a:ext cx="335814"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04</a:t>
                </a:r>
              </a:p>
            </p:txBody>
          </p:sp>
          <p:sp>
            <p:nvSpPr>
              <p:cNvPr id="21" name="TextBox 21"/>
              <p:cNvSpPr txBox="1"/>
              <p:nvPr/>
            </p:nvSpPr>
            <p:spPr>
              <a:xfrm>
                <a:off x="8823960" y="2413000"/>
                <a:ext cx="1851369"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mn-lt"/>
                    <a:ea typeface="+mn-ea"/>
                    <a:cs typeface="+mn-cs"/>
                  </a:rPr>
                  <a:t>Test Plan</a:t>
                </a:r>
              </a:p>
            </p:txBody>
          </p:sp>
          <p:sp>
            <p:nvSpPr>
              <p:cNvPr id="22" name="TextBox 22"/>
              <p:cNvSpPr txBox="1"/>
              <p:nvPr/>
            </p:nvSpPr>
            <p:spPr>
              <a:xfrm>
                <a:off x="8828532" y="3222625"/>
                <a:ext cx="1385240" cy="734568"/>
              </a:xfrm>
              <a:prstGeom prst="rect">
                <a:avLst/>
              </a:prstGeom>
              <a:noFill/>
              <a:ln>
                <a:noFill/>
              </a:ln>
            </p:spPr>
            <p:txBody>
              <a:bodyPr wrap="none" lIns="0" tIns="0" rIns="0" bIns="0" anchor="t" anchorCtr="0">
                <a:spAutoFit/>
              </a:bodyPr>
              <a:lstStyle/>
              <a:p>
                <a:pPr algn="l">
                  <a:lnSpc>
                    <a:spcPts val="2550"/>
                  </a:lnSpc>
                </a:pPr>
                <a:r>
                  <a:rPr lang="en-US" sz="2100" dirty="0">
                    <a:solidFill>
                      <a:srgbClr val="FFFFFF"/>
                    </a:solidFill>
                    <a:latin typeface="+mn-lt"/>
                    <a:ea typeface="+mn-ea"/>
                    <a:cs typeface="+mn-cs"/>
                  </a:rPr>
                  <a:t>Observable</a:t>
                </a:r>
                <a:br>
                  <a:rPr lang="en-US" sz="2100" dirty="0">
                    <a:solidFill>
                      <a:srgbClr val="FFFFFF"/>
                    </a:solidFill>
                    <a:latin typeface="+mn-lt"/>
                    <a:ea typeface="+mn-ea"/>
                    <a:cs typeface="+mn-cs"/>
                  </a:rPr>
                </a:br>
                <a:r>
                  <a:rPr lang="en-US" sz="2100" dirty="0">
                    <a:solidFill>
                      <a:srgbClr val="FFFFFF"/>
                    </a:solidFill>
                    <a:latin typeface="+mn-lt"/>
                    <a:ea typeface="+mn-ea"/>
                    <a:cs typeface="+mn-cs"/>
                  </a:rPr>
                  <a:t>workflows</a:t>
                </a:r>
              </a:p>
            </p:txBody>
          </p:sp>
        </p:grpSp>
      </p:grpSp>
      <p:grpSp>
        <p:nvGrpSpPr>
          <p:cNvPr id="28" name="p04-board"/>
          <p:cNvGrpSpPr/>
          <p:nvPr/>
        </p:nvGrpSpPr>
        <p:grpSpPr>
          <a:xfrm>
            <a:off x="594360" y="4076700"/>
            <a:ext cx="10988040" cy="799465"/>
            <a:chOff x="594360" y="4076700"/>
            <a:chExt cx="10988040" cy="799465"/>
          </a:xfrm>
        </p:grpSpPr>
        <p:sp>
          <p:nvSpPr>
            <p:cNvPr id="25" name="Line 25"/>
            <p:cNvSpPr/>
            <p:nvPr/>
          </p:nvSpPr>
          <p:spPr>
            <a:xfrm>
              <a:off x="609600" y="4076700"/>
              <a:ext cx="10972800" cy="9525"/>
            </a:xfrm>
            <a:custGeom>
              <a:avLst/>
              <a:gdLst/>
              <a:ahLst/>
              <a:cxnLst/>
              <a:rect l="l" t="t" r="r" b="b"/>
              <a:pathLst>
                <a:path w="10972800" h="9525">
                  <a:moveTo>
                    <a:pt x="0" y="0"/>
                  </a:moveTo>
                  <a:lnTo>
                    <a:pt x="10972800" y="0"/>
                  </a:lnTo>
                </a:path>
              </a:pathLst>
            </a:custGeom>
            <a:noFill/>
            <a:ln w="19050">
              <a:solidFill>
                <a:schemeClr val="accent3"/>
              </a:solidFill>
            </a:ln>
          </p:spPr>
        </p:sp>
        <p:sp>
          <p:nvSpPr>
            <p:cNvPr id="26" name="TextBox 26"/>
            <p:cNvSpPr txBox="1"/>
            <p:nvPr/>
          </p:nvSpPr>
          <p:spPr>
            <a:xfrm>
              <a:off x="594360" y="4289425"/>
              <a:ext cx="3348287"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mn-lt"/>
                  <a:ea typeface="+mn-ea"/>
                  <a:cs typeface="+mn-cs"/>
                </a:rPr>
                <a:t>05 · Scrum board</a:t>
              </a:r>
            </a:p>
          </p:txBody>
        </p:sp>
        <p:sp>
          <p:nvSpPr>
            <p:cNvPr id="27" name="TextBox 27"/>
            <p:cNvSpPr txBox="1"/>
            <p:nvPr/>
          </p:nvSpPr>
          <p:spPr>
            <a:xfrm>
              <a:off x="4466082" y="4403725"/>
              <a:ext cx="6567744"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Tasks, owners, acceptance conditions and evidence</a:t>
              </a:r>
            </a:p>
          </p:txBody>
        </p:sp>
      </p:grpSp>
      <p:grpSp>
        <p:nvGrpSpPr>
          <p:cNvPr id="31" name="p04-stack"/>
          <p:cNvGrpSpPr/>
          <p:nvPr/>
        </p:nvGrpSpPr>
        <p:grpSpPr>
          <a:xfrm>
            <a:off x="594360" y="5499100"/>
            <a:ext cx="5786321" cy="795020"/>
            <a:chOff x="594360" y="5499100"/>
            <a:chExt cx="5786321" cy="795020"/>
          </a:xfrm>
        </p:grpSpPr>
        <p:sp>
          <p:nvSpPr>
            <p:cNvPr id="29" name="TextBox 29"/>
            <p:cNvSpPr txBox="1"/>
            <p:nvPr/>
          </p:nvSpPr>
          <p:spPr>
            <a:xfrm>
              <a:off x="594360" y="5499100"/>
              <a:ext cx="5786321" cy="586740"/>
            </a:xfrm>
            <a:prstGeom prst="rect">
              <a:avLst/>
            </a:prstGeom>
            <a:noFill/>
            <a:ln>
              <a:noFill/>
            </a:ln>
          </p:spPr>
          <p:txBody>
            <a:bodyPr wrap="none" lIns="0" tIns="0" rIns="0" bIns="0" anchor="t" anchorCtr="0">
              <a:spAutoFit/>
            </a:bodyPr>
            <a:lstStyle/>
            <a:p>
              <a:pPr algn="l"/>
              <a:r>
                <a:rPr lang="en-US" sz="3000" dirty="0">
                  <a:solidFill>
                    <a:srgbClr val="FFFFFF"/>
                  </a:solidFill>
                  <a:latin typeface="+mn-lt"/>
                  <a:ea typeface="+mn-ea"/>
                  <a:cs typeface="+mn-cs"/>
                </a:rPr>
                <a:t>Python + Flask + SQLite + Jinja</a:t>
              </a:r>
            </a:p>
          </p:txBody>
        </p:sp>
        <p:sp>
          <p:nvSpPr>
            <p:cNvPr id="30" name="TextBox 30"/>
            <p:cNvSpPr txBox="1"/>
            <p:nvPr/>
          </p:nvSpPr>
          <p:spPr>
            <a:xfrm>
              <a:off x="601980" y="6000750"/>
              <a:ext cx="4877649" cy="293370"/>
            </a:xfrm>
            <a:prstGeom prst="rect">
              <a:avLst/>
            </a:prstGeom>
            <a:noFill/>
            <a:ln>
              <a:noFill/>
            </a:ln>
          </p:spPr>
          <p:txBody>
            <a:bodyPr wrap="none" lIns="0" tIns="0" rIns="0" bIns="0" anchor="t" anchorCtr="0">
              <a:spAutoFit/>
            </a:bodyPr>
            <a:lstStyle/>
            <a:p>
              <a:pPr algn="l"/>
              <a:r>
                <a:rPr lang="en-US" sz="1500" dirty="0">
                  <a:solidFill>
                    <a:schemeClr val="accent3"/>
                  </a:solidFill>
                  <a:latin typeface="+mn-lt"/>
                  <a:ea typeface="+mn-ea"/>
                  <a:cs typeface="+mn-cs"/>
                </a:rPr>
                <a:t>Server-rendered forms and navigation · No JavaScript</a:t>
              </a:r>
            </a:p>
          </p:txBody>
        </p:sp>
      </p:grpSp>
      <p:grpSp>
        <p:nvGrpSpPr>
          <p:cNvPr id="33" name="p04-page"/>
          <p:cNvGrpSpPr/>
          <p:nvPr/>
        </p:nvGrpSpPr>
        <p:grpSpPr>
          <a:xfrm>
            <a:off x="11350153" y="6229350"/>
            <a:ext cx="239867" cy="293370"/>
            <a:chOff x="11350153" y="6229350"/>
            <a:chExt cx="239867" cy="293370"/>
          </a:xfrm>
        </p:grpSpPr>
        <p:sp>
          <p:nvSpPr>
            <p:cNvPr id="32" name="TextBox 32"/>
            <p:cNvSpPr txBox="1"/>
            <p:nvPr/>
          </p:nvSpPr>
          <p:spPr>
            <a:xfrm>
              <a:off x="11350153" y="6229350"/>
              <a:ext cx="239867" cy="293370"/>
            </a:xfrm>
            <a:prstGeom prst="rect">
              <a:avLst/>
            </a:prstGeom>
            <a:noFill/>
            <a:ln>
              <a:noFill/>
            </a:ln>
          </p:spPr>
          <p:txBody>
            <a:bodyPr wrap="none" lIns="0" tIns="0" rIns="0" bIns="0" anchor="t" anchorCtr="0">
              <a:spAutoFit/>
            </a:bodyPr>
            <a:lstStyle/>
            <a:p>
              <a:pPr algn="r"/>
              <a:r>
                <a:rPr lang="en-US" sz="1500" dirty="0">
                  <a:solidFill>
                    <a:schemeClr val="accent3"/>
                  </a:solidFill>
                  <a:latin typeface="+mn-lt"/>
                  <a:ea typeface="+mn-ea"/>
                  <a:cs typeface="+mn-c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p05-title"/>
          <p:cNvGrpSpPr/>
          <p:nvPr/>
        </p:nvGrpSpPr>
        <p:grpSpPr>
          <a:xfrm>
            <a:off x="590550" y="508000"/>
            <a:ext cx="9451958" cy="819150"/>
            <a:chOff x="590550" y="508000"/>
            <a:chExt cx="9451958" cy="819150"/>
          </a:xfrm>
        </p:grpSpPr>
        <p:sp>
          <p:nvSpPr>
            <p:cNvPr id="2" name="TextBox 2"/>
            <p:cNvSpPr txBox="1"/>
            <p:nvPr/>
          </p:nvSpPr>
          <p:spPr>
            <a:xfrm>
              <a:off x="590550" y="508000"/>
              <a:ext cx="9451958" cy="819150"/>
            </a:xfrm>
            <a:prstGeom prst="rect">
              <a:avLst/>
            </a:prstGeom>
            <a:noFill/>
            <a:ln>
              <a:noFill/>
            </a:ln>
          </p:spPr>
          <p:txBody>
            <a:bodyPr wrap="none" lIns="0" tIns="0" rIns="0" bIns="0" anchor="t" anchorCtr="0">
              <a:spAutoFit/>
            </a:bodyPr>
            <a:lstStyle/>
            <a:p>
              <a:pPr algn="l"/>
              <a:r>
                <a:rPr lang="en-US" sz="4200" b="1" dirty="0">
                  <a:solidFill>
                    <a:schemeClr val="accent1"/>
                  </a:solidFill>
                  <a:latin typeface="+mn-lt"/>
                  <a:ea typeface="+mn-ea"/>
                  <a:cs typeface="+mn-cs"/>
                </a:rPr>
                <a:t>Five business models, one request</a:t>
              </a:r>
            </a:p>
          </p:txBody>
        </p:sp>
      </p:grpSp>
      <p:grpSp>
        <p:nvGrpSpPr>
          <p:cNvPr id="7" name="p05-user"/>
          <p:cNvGrpSpPr/>
          <p:nvPr/>
        </p:nvGrpSpPr>
        <p:grpSpPr>
          <a:xfrm>
            <a:off x="609600" y="1714500"/>
            <a:ext cx="2000250" cy="1371600"/>
            <a:chOff x="609600" y="1714500"/>
            <a:chExt cx="2000250" cy="1371600"/>
          </a:xfrm>
        </p:grpSpPr>
        <p:sp>
          <p:nvSpPr>
            <p:cNvPr id="4" name="Rectangle 4"/>
            <p:cNvSpPr/>
            <p:nvPr/>
          </p:nvSpPr>
          <p:spPr>
            <a:xfrm>
              <a:off x="609600" y="1714500"/>
              <a:ext cx="2000250" cy="1371600"/>
            </a:xfrm>
            <a:prstGeom prst="rect">
              <a:avLst/>
            </a:prstGeom>
            <a:solidFill>
              <a:schemeClr val="lt2"/>
            </a:solidFill>
            <a:ln w="9525">
              <a:solidFill>
                <a:schemeClr val="accent6"/>
              </a:solidFill>
            </a:ln>
          </p:spPr>
        </p:sp>
        <p:sp>
          <p:nvSpPr>
            <p:cNvPr id="5" name="TextBox 5"/>
            <p:cNvSpPr txBox="1"/>
            <p:nvPr/>
          </p:nvSpPr>
          <p:spPr>
            <a:xfrm>
              <a:off x="770382" y="1860550"/>
              <a:ext cx="652082"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Consolas"/>
                  <a:ea typeface="Consolas"/>
                  <a:cs typeface="Consolas"/>
                </a:rPr>
                <a:t>User</a:t>
              </a:r>
            </a:p>
          </p:txBody>
        </p:sp>
        <p:sp>
          <p:nvSpPr>
            <p:cNvPr id="6" name="TextBox 6"/>
            <p:cNvSpPr txBox="1"/>
            <p:nvPr/>
          </p:nvSpPr>
          <p:spPr>
            <a:xfrm>
              <a:off x="770382" y="2336800"/>
              <a:ext cx="1148250" cy="734568"/>
            </a:xfrm>
            <a:prstGeom prst="rect">
              <a:avLst/>
            </a:prstGeom>
            <a:noFill/>
            <a:ln>
              <a:noFill/>
            </a:ln>
          </p:spPr>
          <p:txBody>
            <a:bodyPr wrap="none" lIns="0" tIns="0" rIns="0" bIns="0" anchor="t" anchorCtr="0">
              <a:spAutoFit/>
            </a:bodyPr>
            <a:lstStyle/>
            <a:p>
              <a:pPr algn="l">
                <a:lnSpc>
                  <a:spcPts val="2550"/>
                </a:lnSpc>
              </a:pPr>
              <a:r>
                <a:rPr lang="en-US" sz="2100" dirty="0">
                  <a:solidFill>
                    <a:schemeClr val="accent5"/>
                  </a:solidFill>
                  <a:latin typeface="+mn-lt"/>
                  <a:ea typeface="+mn-ea"/>
                  <a:cs typeface="+mn-cs"/>
                </a:rPr>
                <a:t>Signed-in</a:t>
              </a:r>
              <a:br>
                <a:rPr lang="en-US" sz="2100" dirty="0">
                  <a:solidFill>
                    <a:schemeClr val="accent5"/>
                  </a:solidFill>
                  <a:latin typeface="+mn-lt"/>
                  <a:ea typeface="+mn-ea"/>
                  <a:cs typeface="+mn-cs"/>
                </a:rPr>
              </a:br>
              <a:r>
                <a:rPr lang="en-US" sz="2100" dirty="0">
                  <a:solidFill>
                    <a:schemeClr val="accent5"/>
                  </a:solidFill>
                  <a:latin typeface="+mn-lt"/>
                  <a:ea typeface="+mn-ea"/>
                  <a:cs typeface="+mn-cs"/>
                </a:rPr>
                <a:t>identity</a:t>
              </a:r>
            </a:p>
          </p:txBody>
        </p:sp>
      </p:grpSp>
      <p:grpSp>
        <p:nvGrpSpPr>
          <p:cNvPr id="11" name="p05-employee"/>
          <p:cNvGrpSpPr/>
          <p:nvPr/>
        </p:nvGrpSpPr>
        <p:grpSpPr>
          <a:xfrm>
            <a:off x="2847975" y="1714500"/>
            <a:ext cx="2000250" cy="1371600"/>
            <a:chOff x="2847975" y="1714500"/>
            <a:chExt cx="2000250" cy="1371600"/>
          </a:xfrm>
        </p:grpSpPr>
        <p:sp>
          <p:nvSpPr>
            <p:cNvPr id="8" name="Rectangle 8"/>
            <p:cNvSpPr/>
            <p:nvPr/>
          </p:nvSpPr>
          <p:spPr>
            <a:xfrm>
              <a:off x="2847975" y="1714500"/>
              <a:ext cx="2000250" cy="1371600"/>
            </a:xfrm>
            <a:prstGeom prst="rect">
              <a:avLst/>
            </a:prstGeom>
            <a:solidFill>
              <a:schemeClr val="lt2"/>
            </a:solidFill>
            <a:ln w="9525">
              <a:solidFill>
                <a:schemeClr val="accent6"/>
              </a:solidFill>
            </a:ln>
          </p:spPr>
        </p:sp>
        <p:sp>
          <p:nvSpPr>
            <p:cNvPr id="9" name="TextBox 9"/>
            <p:cNvSpPr txBox="1"/>
            <p:nvPr/>
          </p:nvSpPr>
          <p:spPr>
            <a:xfrm>
              <a:off x="3008757" y="1860550"/>
              <a:ext cx="1274026"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Consolas"/>
                  <a:ea typeface="Consolas"/>
                  <a:cs typeface="Consolas"/>
                </a:rPr>
                <a:t>Employee</a:t>
              </a:r>
            </a:p>
          </p:txBody>
        </p:sp>
        <p:sp>
          <p:nvSpPr>
            <p:cNvPr id="10" name="TextBox 10"/>
            <p:cNvSpPr txBox="1"/>
            <p:nvPr/>
          </p:nvSpPr>
          <p:spPr>
            <a:xfrm>
              <a:off x="3008757" y="2336800"/>
              <a:ext cx="1340968" cy="734568"/>
            </a:xfrm>
            <a:prstGeom prst="rect">
              <a:avLst/>
            </a:prstGeom>
            <a:noFill/>
            <a:ln>
              <a:noFill/>
            </a:ln>
          </p:spPr>
          <p:txBody>
            <a:bodyPr wrap="none" lIns="0" tIns="0" rIns="0" bIns="0" anchor="t" anchorCtr="0">
              <a:spAutoFit/>
            </a:bodyPr>
            <a:lstStyle/>
            <a:p>
              <a:pPr algn="l">
                <a:lnSpc>
                  <a:spcPts val="2550"/>
                </a:lnSpc>
              </a:pPr>
              <a:r>
                <a:rPr lang="en-US" sz="2100" dirty="0">
                  <a:solidFill>
                    <a:schemeClr val="accent5"/>
                  </a:solidFill>
                  <a:latin typeface="+mn-lt"/>
                  <a:ea typeface="+mn-ea"/>
                  <a:cs typeface="+mn-cs"/>
                </a:rPr>
                <a:t>Seven</a:t>
              </a:r>
              <a:br>
                <a:rPr lang="en-US" sz="2100" dirty="0">
                  <a:solidFill>
                    <a:schemeClr val="accent5"/>
                  </a:solidFill>
                  <a:latin typeface="+mn-lt"/>
                  <a:ea typeface="+mn-ea"/>
                  <a:cs typeface="+mn-cs"/>
                </a:rPr>
              </a:br>
              <a:r>
                <a:rPr lang="en-US" sz="2100" dirty="0">
                  <a:solidFill>
                    <a:schemeClr val="accent5"/>
                  </a:solidFill>
                  <a:latin typeface="+mn-lt"/>
                  <a:ea typeface="+mn-ea"/>
                  <a:cs typeface="+mn-cs"/>
                </a:rPr>
                <a:t>info groups</a:t>
              </a:r>
            </a:p>
          </p:txBody>
        </p:sp>
      </p:grpSp>
      <p:grpSp>
        <p:nvGrpSpPr>
          <p:cNvPr id="15" name="p05-team"/>
          <p:cNvGrpSpPr/>
          <p:nvPr/>
        </p:nvGrpSpPr>
        <p:grpSpPr>
          <a:xfrm>
            <a:off x="5086350" y="1714500"/>
            <a:ext cx="2000250" cy="1371600"/>
            <a:chOff x="5086350" y="1714500"/>
            <a:chExt cx="2000250" cy="1371600"/>
          </a:xfrm>
        </p:grpSpPr>
        <p:sp>
          <p:nvSpPr>
            <p:cNvPr id="12" name="Rectangle 12"/>
            <p:cNvSpPr/>
            <p:nvPr/>
          </p:nvSpPr>
          <p:spPr>
            <a:xfrm>
              <a:off x="5086350" y="1714500"/>
              <a:ext cx="2000250" cy="1371600"/>
            </a:xfrm>
            <a:prstGeom prst="rect">
              <a:avLst/>
            </a:prstGeom>
            <a:solidFill>
              <a:schemeClr val="lt2"/>
            </a:solidFill>
            <a:ln w="9525">
              <a:solidFill>
                <a:schemeClr val="accent6"/>
              </a:solidFill>
            </a:ln>
          </p:spPr>
        </p:sp>
        <p:sp>
          <p:nvSpPr>
            <p:cNvPr id="13" name="TextBox 13"/>
            <p:cNvSpPr txBox="1"/>
            <p:nvPr/>
          </p:nvSpPr>
          <p:spPr>
            <a:xfrm>
              <a:off x="5247132" y="1860550"/>
              <a:ext cx="652082"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Consolas"/>
                  <a:ea typeface="Consolas"/>
                  <a:cs typeface="Consolas"/>
                </a:rPr>
                <a:t>Team</a:t>
              </a:r>
            </a:p>
          </p:txBody>
        </p:sp>
        <p:sp>
          <p:nvSpPr>
            <p:cNvPr id="14" name="TextBox 14"/>
            <p:cNvSpPr txBox="1"/>
            <p:nvPr/>
          </p:nvSpPr>
          <p:spPr>
            <a:xfrm>
              <a:off x="5247132" y="2336800"/>
              <a:ext cx="1296162" cy="734568"/>
            </a:xfrm>
            <a:prstGeom prst="rect">
              <a:avLst/>
            </a:prstGeom>
            <a:noFill/>
            <a:ln>
              <a:noFill/>
            </a:ln>
          </p:spPr>
          <p:txBody>
            <a:bodyPr wrap="none" lIns="0" tIns="0" rIns="0" bIns="0" anchor="t" anchorCtr="0">
              <a:spAutoFit/>
            </a:bodyPr>
            <a:lstStyle/>
            <a:p>
              <a:pPr algn="l">
                <a:lnSpc>
                  <a:spcPts val="2550"/>
                </a:lnSpc>
              </a:pPr>
              <a:r>
                <a:rPr lang="en-US" sz="2100" dirty="0">
                  <a:solidFill>
                    <a:schemeClr val="accent5"/>
                  </a:solidFill>
                  <a:latin typeface="+mn-lt"/>
                  <a:ea typeface="+mn-ea"/>
                  <a:cs typeface="+mn-cs"/>
                </a:rPr>
                <a:t>Supervisor</a:t>
              </a:r>
              <a:br>
                <a:rPr lang="en-US" sz="2100" dirty="0">
                  <a:solidFill>
                    <a:schemeClr val="accent5"/>
                  </a:solidFill>
                  <a:latin typeface="+mn-lt"/>
                  <a:ea typeface="+mn-ea"/>
                  <a:cs typeface="+mn-cs"/>
                </a:rPr>
              </a:br>
              <a:r>
                <a:rPr lang="en-US" sz="2100" dirty="0">
                  <a:solidFill>
                    <a:schemeClr val="accent5"/>
                  </a:solidFill>
                  <a:latin typeface="+mn-lt"/>
                  <a:ea typeface="+mn-ea"/>
                  <a:cs typeface="+mn-cs"/>
                </a:rPr>
                <a:t>scope</a:t>
              </a:r>
            </a:p>
          </p:txBody>
        </p:sp>
      </p:grpSp>
      <p:grpSp>
        <p:nvGrpSpPr>
          <p:cNvPr id="19" name="p05-schedule"/>
          <p:cNvGrpSpPr/>
          <p:nvPr/>
        </p:nvGrpSpPr>
        <p:grpSpPr>
          <a:xfrm>
            <a:off x="7324725" y="1714500"/>
            <a:ext cx="2000250" cy="1371600"/>
            <a:chOff x="7324725" y="1714500"/>
            <a:chExt cx="2000250" cy="1371600"/>
          </a:xfrm>
        </p:grpSpPr>
        <p:sp>
          <p:nvSpPr>
            <p:cNvPr id="16" name="Rectangle 16"/>
            <p:cNvSpPr/>
            <p:nvPr/>
          </p:nvSpPr>
          <p:spPr>
            <a:xfrm>
              <a:off x="7324725" y="1714500"/>
              <a:ext cx="2000250" cy="1371600"/>
            </a:xfrm>
            <a:prstGeom prst="rect">
              <a:avLst/>
            </a:prstGeom>
            <a:solidFill>
              <a:schemeClr val="lt2"/>
            </a:solidFill>
            <a:ln w="9525">
              <a:solidFill>
                <a:schemeClr val="accent6"/>
              </a:solidFill>
            </a:ln>
          </p:spPr>
        </p:sp>
        <p:sp>
          <p:nvSpPr>
            <p:cNvPr id="17" name="TextBox 17"/>
            <p:cNvSpPr txBox="1"/>
            <p:nvPr/>
          </p:nvSpPr>
          <p:spPr>
            <a:xfrm>
              <a:off x="7429119" y="1885950"/>
              <a:ext cx="1768716"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Consolas"/>
                  <a:ea typeface="Consolas"/>
                  <a:cs typeface="Consolas"/>
                </a:rPr>
                <a:t>ScheduleWeek</a:t>
              </a:r>
            </a:p>
          </p:txBody>
        </p:sp>
        <p:sp>
          <p:nvSpPr>
            <p:cNvPr id="18" name="TextBox 18"/>
            <p:cNvSpPr txBox="1"/>
            <p:nvPr/>
          </p:nvSpPr>
          <p:spPr>
            <a:xfrm>
              <a:off x="7485507" y="2336800"/>
              <a:ext cx="1310991" cy="734568"/>
            </a:xfrm>
            <a:prstGeom prst="rect">
              <a:avLst/>
            </a:prstGeom>
            <a:noFill/>
            <a:ln>
              <a:noFill/>
            </a:ln>
          </p:spPr>
          <p:txBody>
            <a:bodyPr wrap="none" lIns="0" tIns="0" rIns="0" bIns="0" anchor="t" anchorCtr="0">
              <a:spAutoFit/>
            </a:bodyPr>
            <a:lstStyle/>
            <a:p>
              <a:pPr algn="l">
                <a:lnSpc>
                  <a:spcPts val="2550"/>
                </a:lnSpc>
              </a:pPr>
              <a:r>
                <a:rPr lang="en-US" sz="2100" dirty="0">
                  <a:solidFill>
                    <a:schemeClr val="accent5"/>
                  </a:solidFill>
                  <a:latin typeface="+mn-lt"/>
                  <a:ea typeface="+mn-ea"/>
                  <a:cs typeface="+mn-cs"/>
                </a:rPr>
                <a:t>Complete</a:t>
              </a:r>
              <a:br>
                <a:rPr lang="en-US" sz="2100" dirty="0">
                  <a:solidFill>
                    <a:schemeClr val="accent5"/>
                  </a:solidFill>
                  <a:latin typeface="+mn-lt"/>
                  <a:ea typeface="+mn-ea"/>
                  <a:cs typeface="+mn-cs"/>
                </a:rPr>
              </a:br>
              <a:r>
                <a:rPr lang="en-US" sz="2100" dirty="0">
                  <a:solidFill>
                    <a:schemeClr val="accent5"/>
                  </a:solidFill>
                  <a:latin typeface="+mn-lt"/>
                  <a:ea typeface="+mn-ea"/>
                  <a:cs typeface="+mn-cs"/>
                </a:rPr>
                <a:t>team week</a:t>
              </a:r>
            </a:p>
          </p:txBody>
        </p:sp>
      </p:grpSp>
      <p:grpSp>
        <p:nvGrpSpPr>
          <p:cNvPr id="23" name="p05-checkin"/>
          <p:cNvGrpSpPr/>
          <p:nvPr/>
        </p:nvGrpSpPr>
        <p:grpSpPr>
          <a:xfrm>
            <a:off x="9563100" y="1714500"/>
            <a:ext cx="2019300" cy="1371600"/>
            <a:chOff x="9563100" y="1714500"/>
            <a:chExt cx="2019300" cy="1371600"/>
          </a:xfrm>
        </p:grpSpPr>
        <p:sp>
          <p:nvSpPr>
            <p:cNvPr id="20" name="Rectangle 20"/>
            <p:cNvSpPr/>
            <p:nvPr/>
          </p:nvSpPr>
          <p:spPr>
            <a:xfrm>
              <a:off x="9563100" y="1714500"/>
              <a:ext cx="2019300" cy="1371600"/>
            </a:xfrm>
            <a:prstGeom prst="rect">
              <a:avLst/>
            </a:prstGeom>
            <a:solidFill>
              <a:schemeClr val="lt2"/>
            </a:solidFill>
            <a:ln w="9525">
              <a:solidFill>
                <a:schemeClr val="accent6"/>
              </a:solidFill>
            </a:ln>
          </p:spPr>
        </p:sp>
        <p:sp>
          <p:nvSpPr>
            <p:cNvPr id="21" name="TextBox 21"/>
            <p:cNvSpPr txBox="1"/>
            <p:nvPr/>
          </p:nvSpPr>
          <p:spPr>
            <a:xfrm>
              <a:off x="9723882" y="1860550"/>
              <a:ext cx="1127341"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Consolas"/>
                  <a:ea typeface="Consolas"/>
                  <a:cs typeface="Consolas"/>
                </a:rPr>
                <a:t>CheckIn</a:t>
              </a:r>
            </a:p>
          </p:txBody>
        </p:sp>
        <p:sp>
          <p:nvSpPr>
            <p:cNvPr id="22" name="TextBox 22"/>
            <p:cNvSpPr txBox="1"/>
            <p:nvPr/>
          </p:nvSpPr>
          <p:spPr>
            <a:xfrm>
              <a:off x="9723882" y="2336800"/>
              <a:ext cx="1133528" cy="734568"/>
            </a:xfrm>
            <a:prstGeom prst="rect">
              <a:avLst/>
            </a:prstGeom>
            <a:noFill/>
            <a:ln>
              <a:noFill/>
            </a:ln>
          </p:spPr>
          <p:txBody>
            <a:bodyPr wrap="none" lIns="0" tIns="0" rIns="0" bIns="0" anchor="t" anchorCtr="0">
              <a:spAutoFit/>
            </a:bodyPr>
            <a:lstStyle/>
            <a:p>
              <a:pPr algn="l">
                <a:lnSpc>
                  <a:spcPts val="2550"/>
                </a:lnSpc>
              </a:pPr>
              <a:r>
                <a:rPr lang="en-US" sz="2100" dirty="0">
                  <a:solidFill>
                    <a:schemeClr val="accent5"/>
                  </a:solidFill>
                  <a:latin typeface="+mn-lt"/>
                  <a:ea typeface="+mn-ea"/>
                  <a:cs typeface="+mn-cs"/>
                </a:rPr>
                <a:t>Signed</a:t>
              </a:r>
              <a:br>
                <a:rPr lang="en-US" sz="2100" dirty="0">
                  <a:solidFill>
                    <a:schemeClr val="accent5"/>
                  </a:solidFill>
                  <a:latin typeface="+mn-lt"/>
                  <a:ea typeface="+mn-ea"/>
                  <a:cs typeface="+mn-cs"/>
                </a:rPr>
              </a:br>
              <a:r>
                <a:rPr lang="en-US" sz="2100" dirty="0">
                  <a:solidFill>
                    <a:schemeClr val="accent5"/>
                  </a:solidFill>
                  <a:latin typeface="+mn-lt"/>
                  <a:ea typeface="+mn-ea"/>
                  <a:cs typeface="+mn-cs"/>
                </a:rPr>
                <a:t>operation</a:t>
              </a:r>
            </a:p>
          </p:txBody>
        </p:sp>
      </p:grpSp>
      <p:grpSp>
        <p:nvGrpSpPr>
          <p:cNvPr id="25" name="p05-request-heading"/>
          <p:cNvGrpSpPr/>
          <p:nvPr/>
        </p:nvGrpSpPr>
        <p:grpSpPr>
          <a:xfrm>
            <a:off x="592836" y="3632200"/>
            <a:ext cx="4246059" cy="645414"/>
            <a:chOff x="592836" y="3632200"/>
            <a:chExt cx="4246059" cy="645414"/>
          </a:xfrm>
        </p:grpSpPr>
        <p:sp>
          <p:nvSpPr>
            <p:cNvPr id="24" name="TextBox 24"/>
            <p:cNvSpPr txBox="1"/>
            <p:nvPr/>
          </p:nvSpPr>
          <p:spPr>
            <a:xfrm>
              <a:off x="592836" y="3632200"/>
              <a:ext cx="4246059"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Create an employee</a:t>
              </a:r>
            </a:p>
          </p:txBody>
        </p:sp>
      </p:grpSp>
      <p:grpSp>
        <p:nvGrpSpPr>
          <p:cNvPr id="39" name="p05-request-flow"/>
          <p:cNvGrpSpPr/>
          <p:nvPr/>
        </p:nvGrpSpPr>
        <p:grpSpPr>
          <a:xfrm>
            <a:off x="598932" y="4641850"/>
            <a:ext cx="10441214" cy="896493"/>
            <a:chOff x="598932" y="4641850"/>
            <a:chExt cx="10441214" cy="896493"/>
          </a:xfrm>
        </p:grpSpPr>
        <p:sp>
          <p:nvSpPr>
            <p:cNvPr id="26" name="Line 26"/>
            <p:cNvSpPr/>
            <p:nvPr/>
          </p:nvSpPr>
          <p:spPr>
            <a:xfrm>
              <a:off x="2114550" y="4857750"/>
              <a:ext cx="323850" cy="1"/>
            </a:xfrm>
            <a:prstGeom prst="line">
              <a:avLst/>
            </a:prstGeom>
            <a:noFill/>
            <a:ln w="19050">
              <a:solidFill>
                <a:schemeClr val="accent2"/>
              </a:solidFill>
              <a:tailEnd type="triangle" w="lg" len="lg"/>
            </a:ln>
          </p:spPr>
        </p:sp>
        <p:sp>
          <p:nvSpPr>
            <p:cNvPr id="27" name="Line 27"/>
            <p:cNvSpPr/>
            <p:nvPr/>
          </p:nvSpPr>
          <p:spPr>
            <a:xfrm>
              <a:off x="4133850" y="4857750"/>
              <a:ext cx="304800" cy="1"/>
            </a:xfrm>
            <a:prstGeom prst="line">
              <a:avLst/>
            </a:prstGeom>
            <a:noFill/>
            <a:ln w="19050">
              <a:solidFill>
                <a:schemeClr val="accent2"/>
              </a:solidFill>
              <a:tailEnd type="triangle" w="lg" len="lg"/>
            </a:ln>
          </p:spPr>
        </p:sp>
        <p:sp>
          <p:nvSpPr>
            <p:cNvPr id="28" name="Line 28"/>
            <p:cNvSpPr/>
            <p:nvPr/>
          </p:nvSpPr>
          <p:spPr>
            <a:xfrm>
              <a:off x="6343650" y="4857750"/>
              <a:ext cx="457200" cy="1"/>
            </a:xfrm>
            <a:prstGeom prst="line">
              <a:avLst/>
            </a:prstGeom>
            <a:noFill/>
            <a:ln w="19050">
              <a:solidFill>
                <a:schemeClr val="accent2"/>
              </a:solidFill>
              <a:tailEnd type="triangle" w="lg" len="lg"/>
            </a:ln>
          </p:spPr>
        </p:sp>
        <p:sp>
          <p:nvSpPr>
            <p:cNvPr id="29" name="Line 29"/>
            <p:cNvSpPr/>
            <p:nvPr/>
          </p:nvSpPr>
          <p:spPr>
            <a:xfrm>
              <a:off x="8324850" y="4857750"/>
              <a:ext cx="457200" cy="1"/>
            </a:xfrm>
            <a:prstGeom prst="line">
              <a:avLst/>
            </a:prstGeom>
            <a:noFill/>
            <a:ln w="19050">
              <a:solidFill>
                <a:schemeClr val="accent2"/>
              </a:solidFill>
              <a:tailEnd type="triangle" w="lg" len="lg"/>
            </a:ln>
          </p:spPr>
        </p:sp>
        <p:sp>
          <p:nvSpPr>
            <p:cNvPr id="30" name="TextBox 30"/>
            <p:cNvSpPr txBox="1"/>
            <p:nvPr/>
          </p:nvSpPr>
          <p:spPr>
            <a:xfrm>
              <a:off x="598932" y="4641850"/>
              <a:ext cx="1555318"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HTML form</a:t>
              </a:r>
            </a:p>
          </p:txBody>
        </p:sp>
        <p:sp>
          <p:nvSpPr>
            <p:cNvPr id="31" name="TextBox 31"/>
            <p:cNvSpPr txBox="1"/>
            <p:nvPr/>
          </p:nvSpPr>
          <p:spPr>
            <a:xfrm>
              <a:off x="2542032" y="4641850"/>
              <a:ext cx="1538088"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Flask route</a:t>
              </a:r>
            </a:p>
          </p:txBody>
        </p:sp>
        <p:sp>
          <p:nvSpPr>
            <p:cNvPr id="32" name="TextBox 32"/>
            <p:cNvSpPr txBox="1"/>
            <p:nvPr/>
          </p:nvSpPr>
          <p:spPr>
            <a:xfrm>
              <a:off x="4561332" y="4641850"/>
              <a:ext cx="1274026"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Consolas"/>
                  <a:ea typeface="Consolas"/>
                  <a:cs typeface="Consolas"/>
                </a:rPr>
                <a:t>Employee</a:t>
              </a:r>
            </a:p>
          </p:txBody>
        </p:sp>
        <p:sp>
          <p:nvSpPr>
            <p:cNvPr id="33" name="TextBox 33"/>
            <p:cNvSpPr txBox="1"/>
            <p:nvPr/>
          </p:nvSpPr>
          <p:spPr>
            <a:xfrm>
              <a:off x="6923532" y="4641850"/>
              <a:ext cx="958155"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SQLite</a:t>
              </a:r>
            </a:p>
          </p:txBody>
        </p:sp>
        <p:sp>
          <p:nvSpPr>
            <p:cNvPr id="34" name="TextBox 34"/>
            <p:cNvSpPr txBox="1"/>
            <p:nvPr/>
          </p:nvSpPr>
          <p:spPr>
            <a:xfrm>
              <a:off x="8904732" y="4641850"/>
              <a:ext cx="2073265"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Rendered page</a:t>
              </a:r>
            </a:p>
          </p:txBody>
        </p:sp>
        <p:sp>
          <p:nvSpPr>
            <p:cNvPr id="35" name="TextBox 35"/>
            <p:cNvSpPr txBox="1"/>
            <p:nvPr/>
          </p:nvSpPr>
          <p:spPr>
            <a:xfrm>
              <a:off x="2542032" y="5127625"/>
              <a:ext cx="1753729"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Role + CSRF</a:t>
              </a:r>
            </a:p>
          </p:txBody>
        </p:sp>
        <p:sp>
          <p:nvSpPr>
            <p:cNvPr id="36" name="TextBox 36"/>
            <p:cNvSpPr txBox="1"/>
            <p:nvPr/>
          </p:nvSpPr>
          <p:spPr>
            <a:xfrm>
              <a:off x="4561332" y="5127625"/>
              <a:ext cx="1050250"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Validate</a:t>
              </a:r>
            </a:p>
          </p:txBody>
        </p:sp>
        <p:sp>
          <p:nvSpPr>
            <p:cNvPr id="37" name="TextBox 37"/>
            <p:cNvSpPr txBox="1"/>
            <p:nvPr/>
          </p:nvSpPr>
          <p:spPr>
            <a:xfrm>
              <a:off x="6923532" y="5127625"/>
              <a:ext cx="1317768"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Write data</a:t>
              </a:r>
            </a:p>
          </p:txBody>
        </p:sp>
        <p:sp>
          <p:nvSpPr>
            <p:cNvPr id="38" name="TextBox 38"/>
            <p:cNvSpPr txBox="1"/>
            <p:nvPr/>
          </p:nvSpPr>
          <p:spPr>
            <a:xfrm>
              <a:off x="8904732" y="5127625"/>
              <a:ext cx="2135414"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Redirect / render</a:t>
              </a:r>
            </a:p>
          </p:txBody>
        </p:sp>
      </p:grpSp>
      <p:grpSp>
        <p:nvGrpSpPr>
          <p:cNvPr id="41" name="p05-detail-reference"/>
          <p:cNvGrpSpPr/>
          <p:nvPr/>
        </p:nvGrpSpPr>
        <p:grpSpPr>
          <a:xfrm>
            <a:off x="601980" y="6000750"/>
            <a:ext cx="8820396" cy="293370"/>
            <a:chOff x="601980" y="6000750"/>
            <a:chExt cx="8820396" cy="293370"/>
          </a:xfrm>
        </p:grpSpPr>
        <p:sp>
          <p:nvSpPr>
            <p:cNvPr id="40" name="TextBox 40"/>
            <p:cNvSpPr txBox="1"/>
            <p:nvPr/>
          </p:nvSpPr>
          <p:spPr>
            <a:xfrm>
              <a:off x="601980" y="6000750"/>
              <a:ext cx="8820396"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Five models. workspace.py holds query, date and CSV helpers; see the Class Diagram for details.</a:t>
              </a:r>
            </a:p>
          </p:txBody>
        </p:sp>
      </p:grpSp>
      <p:grpSp>
        <p:nvGrpSpPr>
          <p:cNvPr id="43" name="p05-page"/>
          <p:cNvGrpSpPr/>
          <p:nvPr/>
        </p:nvGrpSpPr>
        <p:grpSpPr>
          <a:xfrm>
            <a:off x="11350153" y="6229350"/>
            <a:ext cx="239867" cy="293370"/>
            <a:chOff x="11350153" y="6229350"/>
            <a:chExt cx="239867" cy="293370"/>
          </a:xfrm>
        </p:grpSpPr>
        <p:sp>
          <p:nvSpPr>
            <p:cNvPr id="42" name="TextBox 42"/>
            <p:cNvSpPr txBox="1"/>
            <p:nvPr/>
          </p:nvSpPr>
          <p:spPr>
            <a:xfrm>
              <a:off x="11350153" y="6229350"/>
              <a:ext cx="239867"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p06-title"/>
          <p:cNvGrpSpPr/>
          <p:nvPr/>
        </p:nvGrpSpPr>
        <p:grpSpPr>
          <a:xfrm>
            <a:off x="590550" y="508000"/>
            <a:ext cx="5774692" cy="819150"/>
            <a:chOff x="590550" y="508000"/>
            <a:chExt cx="5774692" cy="819150"/>
          </a:xfrm>
        </p:grpSpPr>
        <p:sp>
          <p:nvSpPr>
            <p:cNvPr id="2" name="TextBox 2"/>
            <p:cNvSpPr txBox="1"/>
            <p:nvPr/>
          </p:nvSpPr>
          <p:spPr>
            <a:xfrm>
              <a:off x="590550" y="508000"/>
              <a:ext cx="5774692" cy="819150"/>
            </a:xfrm>
            <a:prstGeom prst="rect">
              <a:avLst/>
            </a:prstGeom>
            <a:noFill/>
            <a:ln>
              <a:noFill/>
            </a:ln>
          </p:spPr>
          <p:txBody>
            <a:bodyPr wrap="none" lIns="0" tIns="0" rIns="0" bIns="0" anchor="t" anchorCtr="0">
              <a:spAutoFit/>
            </a:bodyPr>
            <a:lstStyle/>
            <a:p>
              <a:pPr algn="l"/>
              <a:r>
                <a:rPr lang="en-US" sz="4200" b="1" dirty="0">
                  <a:solidFill>
                    <a:schemeClr val="accent1"/>
                  </a:solidFill>
                  <a:latin typeface="+mn-lt"/>
                  <a:ea typeface="+mn-ea"/>
                  <a:cs typeface="+mn-cs"/>
                </a:rPr>
                <a:t>Three workflows, live</a:t>
              </a:r>
            </a:p>
          </p:txBody>
        </p:sp>
      </p:grpSp>
      <p:grpSp>
        <p:nvGrpSpPr>
          <p:cNvPr id="6" name="p06-find-record"/>
          <p:cNvGrpSpPr/>
          <p:nvPr/>
        </p:nvGrpSpPr>
        <p:grpSpPr>
          <a:xfrm>
            <a:off x="594360" y="1879600"/>
            <a:ext cx="2601855" cy="1005840"/>
            <a:chOff x="594360" y="1879600"/>
            <a:chExt cx="2601855" cy="1005840"/>
          </a:xfrm>
        </p:grpSpPr>
        <p:sp>
          <p:nvSpPr>
            <p:cNvPr id="4" name="TextBox 4"/>
            <p:cNvSpPr txBox="1"/>
            <p:nvPr/>
          </p:nvSpPr>
          <p:spPr>
            <a:xfrm>
              <a:off x="598932" y="1879600"/>
              <a:ext cx="1050491" cy="410718"/>
            </a:xfrm>
            <a:prstGeom prst="rect">
              <a:avLst/>
            </a:prstGeom>
            <a:noFill/>
            <a:ln>
              <a:noFill/>
            </a:ln>
          </p:spPr>
          <p:txBody>
            <a:bodyPr wrap="none" lIns="0" tIns="0" rIns="0" bIns="0" anchor="t" anchorCtr="0">
              <a:spAutoFit/>
            </a:bodyPr>
            <a:lstStyle/>
            <a:p>
              <a:pPr algn="l"/>
              <a:r>
                <a:rPr lang="en-US" sz="2100" dirty="0">
                  <a:solidFill>
                    <a:schemeClr val="accent2"/>
                  </a:solidFill>
                  <a:latin typeface="+mn-lt"/>
                  <a:ea typeface="+mn-ea"/>
                  <a:cs typeface="+mn-cs"/>
                </a:rPr>
                <a:t>01 · HR</a:t>
              </a:r>
            </a:p>
          </p:txBody>
        </p:sp>
        <p:sp>
          <p:nvSpPr>
            <p:cNvPr id="5" name="TextBox 5"/>
            <p:cNvSpPr txBox="1"/>
            <p:nvPr/>
          </p:nvSpPr>
          <p:spPr>
            <a:xfrm>
              <a:off x="594360" y="2298700"/>
              <a:ext cx="2601855"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Find a record</a:t>
              </a:r>
            </a:p>
          </p:txBody>
        </p:sp>
      </p:grpSp>
      <p:grpSp>
        <p:nvGrpSpPr>
          <p:cNvPr id="9" name="p06-reject-week"/>
          <p:cNvGrpSpPr/>
          <p:nvPr/>
        </p:nvGrpSpPr>
        <p:grpSpPr>
          <a:xfrm>
            <a:off x="594360" y="3203575"/>
            <a:ext cx="2697404" cy="1463040"/>
            <a:chOff x="594360" y="3203575"/>
            <a:chExt cx="2697404" cy="1463040"/>
          </a:xfrm>
        </p:grpSpPr>
        <p:sp>
          <p:nvSpPr>
            <p:cNvPr id="7" name="TextBox 7"/>
            <p:cNvSpPr txBox="1"/>
            <p:nvPr/>
          </p:nvSpPr>
          <p:spPr>
            <a:xfrm>
              <a:off x="598932" y="3203575"/>
              <a:ext cx="2577705" cy="410718"/>
            </a:xfrm>
            <a:prstGeom prst="rect">
              <a:avLst/>
            </a:prstGeom>
            <a:noFill/>
            <a:ln>
              <a:noFill/>
            </a:ln>
          </p:spPr>
          <p:txBody>
            <a:bodyPr wrap="none" lIns="0" tIns="0" rIns="0" bIns="0" anchor="t" anchorCtr="0">
              <a:spAutoFit/>
            </a:bodyPr>
            <a:lstStyle/>
            <a:p>
              <a:pPr algn="l"/>
              <a:r>
                <a:rPr lang="en-US" sz="2100" dirty="0">
                  <a:solidFill>
                    <a:schemeClr val="accent2"/>
                  </a:solidFill>
                  <a:latin typeface="+mn-lt"/>
                  <a:ea typeface="+mn-ea"/>
                  <a:cs typeface="+mn-cs"/>
                </a:rPr>
                <a:t>02 · SUPERVISOR</a:t>
              </a:r>
            </a:p>
          </p:txBody>
        </p:sp>
        <p:sp>
          <p:nvSpPr>
            <p:cNvPr id="8" name="TextBox 8"/>
            <p:cNvSpPr txBox="1"/>
            <p:nvPr/>
          </p:nvSpPr>
          <p:spPr>
            <a:xfrm>
              <a:off x="594360" y="3622675"/>
              <a:ext cx="2697404"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dk1"/>
                  </a:solidFill>
                  <a:latin typeface="+mn-lt"/>
                  <a:ea typeface="+mn-ea"/>
                  <a:cs typeface="+mn-cs"/>
                </a:rPr>
                <a:t>Load a draft</a:t>
              </a:r>
              <a:br>
                <a:rPr lang="en-US" sz="3000" b="1" dirty="0">
                  <a:solidFill>
                    <a:schemeClr val="dk1"/>
                  </a:solidFill>
                  <a:latin typeface="+mn-lt"/>
                  <a:ea typeface="+mn-ea"/>
                  <a:cs typeface="+mn-cs"/>
                </a:rPr>
              </a:br>
              <a:r>
                <a:rPr lang="en-US" sz="3000" b="1" dirty="0">
                  <a:solidFill>
                    <a:schemeClr val="dk1"/>
                  </a:solidFill>
                  <a:latin typeface="+mn-lt"/>
                  <a:ea typeface="+mn-ea"/>
                  <a:cs typeface="+mn-cs"/>
                </a:rPr>
                <a:t>without saving</a:t>
              </a:r>
            </a:p>
          </p:txBody>
        </p:sp>
      </p:grpSp>
      <p:grpSp>
        <p:nvGrpSpPr>
          <p:cNvPr id="12" name="p06-own-shifts"/>
          <p:cNvGrpSpPr/>
          <p:nvPr/>
        </p:nvGrpSpPr>
        <p:grpSpPr>
          <a:xfrm>
            <a:off x="594360" y="4879975"/>
            <a:ext cx="2761412" cy="1463040"/>
            <a:chOff x="594360" y="4879975"/>
            <a:chExt cx="2761412" cy="1463040"/>
          </a:xfrm>
        </p:grpSpPr>
        <p:sp>
          <p:nvSpPr>
            <p:cNvPr id="10" name="TextBox 10"/>
            <p:cNvSpPr txBox="1"/>
            <p:nvPr/>
          </p:nvSpPr>
          <p:spPr>
            <a:xfrm>
              <a:off x="598932" y="4879975"/>
              <a:ext cx="2262512" cy="410718"/>
            </a:xfrm>
            <a:prstGeom prst="rect">
              <a:avLst/>
            </a:prstGeom>
            <a:noFill/>
            <a:ln>
              <a:noFill/>
            </a:ln>
          </p:spPr>
          <p:txBody>
            <a:bodyPr wrap="none" lIns="0" tIns="0" rIns="0" bIns="0" anchor="t" anchorCtr="0">
              <a:spAutoFit/>
            </a:bodyPr>
            <a:lstStyle/>
            <a:p>
              <a:pPr algn="l"/>
              <a:r>
                <a:rPr lang="en-US" sz="2100" dirty="0">
                  <a:solidFill>
                    <a:schemeClr val="accent2"/>
                  </a:solidFill>
                  <a:latin typeface="+mn-lt"/>
                  <a:ea typeface="+mn-ea"/>
                  <a:cs typeface="+mn-cs"/>
                </a:rPr>
                <a:t>03 · EMPLOYEE</a:t>
              </a:r>
            </a:p>
          </p:txBody>
        </p:sp>
        <p:sp>
          <p:nvSpPr>
            <p:cNvPr id="11" name="TextBox 11"/>
            <p:cNvSpPr txBox="1"/>
            <p:nvPr/>
          </p:nvSpPr>
          <p:spPr>
            <a:xfrm>
              <a:off x="594360" y="5337175"/>
              <a:ext cx="2761412" cy="1005840"/>
            </a:xfrm>
            <a:prstGeom prst="rect">
              <a:avLst/>
            </a:prstGeom>
            <a:noFill/>
            <a:ln>
              <a:noFill/>
            </a:ln>
          </p:spPr>
          <p:txBody>
            <a:bodyPr wrap="none" lIns="0" tIns="0" rIns="0" bIns="0" anchor="t" anchorCtr="0">
              <a:spAutoFit/>
            </a:bodyPr>
            <a:lstStyle/>
            <a:p>
              <a:pPr algn="l">
                <a:lnSpc>
                  <a:spcPts val="3300"/>
                </a:lnSpc>
              </a:pPr>
              <a:r>
                <a:rPr lang="en-US" sz="3000" b="1" dirty="0">
                  <a:solidFill>
                    <a:schemeClr val="dk1"/>
                  </a:solidFill>
                  <a:latin typeface="+mn-lt"/>
                  <a:ea typeface="+mn-ea"/>
                  <a:cs typeface="+mn-cs"/>
                </a:rPr>
                <a:t>View own work</a:t>
              </a:r>
              <a:br>
                <a:rPr lang="en-US" sz="3000" b="1" dirty="0">
                  <a:solidFill>
                    <a:schemeClr val="dk1"/>
                  </a:solidFill>
                  <a:latin typeface="+mn-lt"/>
                  <a:ea typeface="+mn-ea"/>
                  <a:cs typeface="+mn-cs"/>
                </a:rPr>
              </a:br>
              <a:r>
                <a:rPr lang="en-US" sz="3000" b="1" dirty="0">
                  <a:solidFill>
                    <a:schemeClr val="dk1"/>
                  </a:solidFill>
                  <a:latin typeface="+mn-lt"/>
                  <a:ea typeface="+mn-ea"/>
                  <a:cs typeface="+mn-cs"/>
                </a:rPr>
                <a:t>and history</a:t>
              </a:r>
            </a:p>
          </p:txBody>
        </p:sp>
      </p:grpSp>
      <p:grpSp>
        <p:nvGrpSpPr>
          <p:cNvPr id="14" name="p06-schedule-screen"/>
          <p:cNvGrpSpPr/>
          <p:nvPr/>
        </p:nvGrpSpPr>
        <p:grpSpPr>
          <a:xfrm>
            <a:off x="5471160" y="1562100"/>
            <a:ext cx="4946428" cy="4572000"/>
            <a:chOff x="5471160" y="1562100"/>
            <a:chExt cx="4946428" cy="4572000"/>
          </a:xfrm>
        </p:grpSpPr>
        <p:pic>
          <p:nvPicPr>
            <p:cNvPr id="13" name="Image 13"/>
            <p:cNvPicPr>
              <a:picLocks noChangeAspect="1"/>
            </p:cNvPicPr>
            <p:nvPr/>
          </p:nvPicPr>
          <p:blipFill>
            <a:blip r:embed="rId2"/>
            <a:stretch>
              <a:fillRect/>
            </a:stretch>
          </p:blipFill>
          <p:spPr>
            <a:xfrm>
              <a:off x="5471160" y="1562100"/>
              <a:ext cx="4946428" cy="4572000"/>
            </a:xfrm>
            <a:prstGeom prst="rect">
              <a:avLst/>
            </a:prstGeom>
          </p:spPr>
        </p:pic>
      </p:grpSp>
      <p:grpSp>
        <p:nvGrpSpPr>
          <p:cNvPr id="16" name="p06-demo-caption"/>
          <p:cNvGrpSpPr/>
          <p:nvPr/>
        </p:nvGrpSpPr>
        <p:grpSpPr>
          <a:xfrm>
            <a:off x="4297680" y="6191250"/>
            <a:ext cx="3991696" cy="293370"/>
            <a:chOff x="4297680" y="6191250"/>
            <a:chExt cx="3991696" cy="293370"/>
          </a:xfrm>
        </p:grpSpPr>
        <p:sp>
          <p:nvSpPr>
            <p:cNvPr id="15" name="TextBox 15"/>
            <p:cNvSpPr txBox="1"/>
            <p:nvPr/>
          </p:nvSpPr>
          <p:spPr>
            <a:xfrm>
              <a:off x="4297680" y="6191250"/>
              <a:ext cx="3991696"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2 min 30 sec · Unsaved draft · Fictional data</a:t>
              </a:r>
            </a:p>
          </p:txBody>
        </p:sp>
      </p:grpSp>
      <p:grpSp>
        <p:nvGrpSpPr>
          <p:cNvPr id="18" name="p06-page"/>
          <p:cNvGrpSpPr/>
          <p:nvPr/>
        </p:nvGrpSpPr>
        <p:grpSpPr>
          <a:xfrm>
            <a:off x="11350153" y="6229350"/>
            <a:ext cx="239867" cy="293370"/>
            <a:chOff x="11350153" y="6229350"/>
            <a:chExt cx="239867" cy="293370"/>
          </a:xfrm>
        </p:grpSpPr>
        <p:sp>
          <p:nvSpPr>
            <p:cNvPr id="17" name="TextBox 17"/>
            <p:cNvSpPr txBox="1"/>
            <p:nvPr/>
          </p:nvSpPr>
          <p:spPr>
            <a:xfrm>
              <a:off x="11350153" y="6229350"/>
              <a:ext cx="239867"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p07-title"/>
          <p:cNvGrpSpPr/>
          <p:nvPr/>
        </p:nvGrpSpPr>
        <p:grpSpPr>
          <a:xfrm>
            <a:off x="590550" y="508000"/>
            <a:ext cx="8508997" cy="819150"/>
            <a:chOff x="590550" y="508000"/>
            <a:chExt cx="8508997" cy="819150"/>
          </a:xfrm>
        </p:grpSpPr>
        <p:sp>
          <p:nvSpPr>
            <p:cNvPr id="2" name="TextBox 2"/>
            <p:cNvSpPr txBox="1"/>
            <p:nvPr/>
          </p:nvSpPr>
          <p:spPr>
            <a:xfrm>
              <a:off x="590550" y="508000"/>
              <a:ext cx="8508997" cy="819150"/>
            </a:xfrm>
            <a:prstGeom prst="rect">
              <a:avLst/>
            </a:prstGeom>
            <a:noFill/>
            <a:ln>
              <a:noFill/>
            </a:ln>
          </p:spPr>
          <p:txBody>
            <a:bodyPr wrap="none" lIns="0" tIns="0" rIns="0" bIns="0" anchor="t" anchorCtr="0">
              <a:spAutoFit/>
            </a:bodyPr>
            <a:lstStyle/>
            <a:p>
              <a:pPr algn="l"/>
              <a:r>
                <a:rPr lang="en-US" sz="4200" b="1" dirty="0">
                  <a:solidFill>
                    <a:schemeClr val="accent1"/>
                  </a:solidFill>
                  <a:latin typeface="+mn-lt"/>
                  <a:ea typeface="+mn-ea"/>
                  <a:cs typeface="+mn-cs"/>
                </a:rPr>
                <a:t>Technical evidence, clear limits</a:t>
              </a:r>
            </a:p>
          </p:txBody>
        </p:sp>
      </p:grpSp>
      <p:grpSp>
        <p:nvGrpSpPr>
          <p:cNvPr id="7" name="p07-automated-results"/>
          <p:cNvGrpSpPr/>
          <p:nvPr/>
        </p:nvGrpSpPr>
        <p:grpSpPr>
          <a:xfrm>
            <a:off x="590550" y="1730375"/>
            <a:ext cx="2206696" cy="2045843"/>
            <a:chOff x="590550" y="1730375"/>
            <a:chExt cx="2206696" cy="2045843"/>
          </a:xfrm>
        </p:grpSpPr>
        <p:sp>
          <p:nvSpPr>
            <p:cNvPr id="4" name="p07-auto-number"/>
            <p:cNvSpPr txBox="1"/>
            <p:nvPr/>
          </p:nvSpPr>
          <p:spPr>
            <a:xfrm>
              <a:off x="590550" y="1730375"/>
              <a:ext cx="1116309" cy="1390650"/>
            </a:xfrm>
            <a:prstGeom prst="rect">
              <a:avLst/>
            </a:prstGeom>
            <a:noFill/>
            <a:ln>
              <a:noFill/>
            </a:ln>
          </p:spPr>
          <p:txBody>
            <a:bodyPr wrap="none" lIns="0" tIns="0" rIns="0" bIns="0" anchor="t" anchorCtr="0">
              <a:spAutoFit/>
            </a:bodyPr>
            <a:lstStyle/>
            <a:p>
              <a:pPr algn="l"/>
              <a:r>
                <a:rPr lang="en-US" sz="7200" b="1" dirty="0">
                  <a:solidFill>
                    <a:schemeClr val="accent2"/>
                  </a:solidFill>
                  <a:latin typeface="+mn-lt"/>
                  <a:ea typeface="+mn-ea"/>
                  <a:cs typeface="+mn-cs"/>
                </a:rPr>
                <a:t>40</a:t>
              </a:r>
            </a:p>
          </p:txBody>
        </p:sp>
        <p:sp>
          <p:nvSpPr>
            <p:cNvPr id="5" name="TextBox 5"/>
            <p:cNvSpPr txBox="1"/>
            <p:nvPr/>
          </p:nvSpPr>
          <p:spPr>
            <a:xfrm>
              <a:off x="598932" y="2946400"/>
              <a:ext cx="2198314"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Core regression</a:t>
              </a:r>
            </a:p>
          </p:txBody>
        </p:sp>
        <p:sp>
          <p:nvSpPr>
            <p:cNvPr id="6" name="TextBox 6"/>
            <p:cNvSpPr txBox="1"/>
            <p:nvPr/>
          </p:nvSpPr>
          <p:spPr>
            <a:xfrm>
              <a:off x="598932" y="3365500"/>
              <a:ext cx="1921535"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Flask + SQLite</a:t>
              </a:r>
            </a:p>
          </p:txBody>
        </p:sp>
      </p:grpSp>
      <p:grpSp>
        <p:nvGrpSpPr>
          <p:cNvPr id="11" name="p07-enhancement-results"/>
          <p:cNvGrpSpPr/>
          <p:nvPr/>
        </p:nvGrpSpPr>
        <p:grpSpPr>
          <a:xfrm>
            <a:off x="3314700" y="1730375"/>
            <a:ext cx="2427754" cy="2045843"/>
            <a:chOff x="3314700" y="1730375"/>
            <a:chExt cx="2427754" cy="2045843"/>
          </a:xfrm>
        </p:grpSpPr>
        <p:sp>
          <p:nvSpPr>
            <p:cNvPr id="8" name="p07-enhancement-number"/>
            <p:cNvSpPr txBox="1"/>
            <p:nvPr/>
          </p:nvSpPr>
          <p:spPr>
            <a:xfrm>
              <a:off x="3314700" y="1730375"/>
              <a:ext cx="1116309" cy="1390650"/>
            </a:xfrm>
            <a:prstGeom prst="rect">
              <a:avLst/>
            </a:prstGeom>
            <a:noFill/>
            <a:ln>
              <a:noFill/>
            </a:ln>
          </p:spPr>
          <p:txBody>
            <a:bodyPr wrap="none" lIns="0" tIns="0" rIns="0" bIns="0" anchor="t" anchorCtr="0">
              <a:spAutoFit/>
            </a:bodyPr>
            <a:lstStyle/>
            <a:p>
              <a:pPr algn="l"/>
              <a:r>
                <a:rPr lang="en-US" sz="7200" b="1" dirty="0">
                  <a:solidFill>
                    <a:schemeClr val="accent2"/>
                  </a:solidFill>
                  <a:latin typeface="+mn-lt"/>
                  <a:ea typeface="+mn-ea"/>
                  <a:cs typeface="+mn-cs"/>
                </a:rPr>
                <a:t>26</a:t>
              </a:r>
            </a:p>
          </p:txBody>
        </p:sp>
        <p:sp>
          <p:nvSpPr>
            <p:cNvPr id="9" name="TextBox 9"/>
            <p:cNvSpPr txBox="1"/>
            <p:nvPr/>
          </p:nvSpPr>
          <p:spPr>
            <a:xfrm>
              <a:off x="3323082" y="2946400"/>
              <a:ext cx="241937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Enhanced checks</a:t>
              </a:r>
            </a:p>
          </p:txBody>
        </p:sp>
        <p:sp>
          <p:nvSpPr>
            <p:cNvPr id="10" name="TextBox 10"/>
            <p:cNvSpPr txBox="1"/>
            <p:nvPr/>
          </p:nvSpPr>
          <p:spPr>
            <a:xfrm>
              <a:off x="3323082" y="3365500"/>
              <a:ext cx="1930615"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Role workflows</a:t>
              </a:r>
            </a:p>
          </p:txBody>
        </p:sp>
      </p:grpSp>
      <p:grpSp>
        <p:nvGrpSpPr>
          <p:cNvPr id="15" name="p07-browser-results"/>
          <p:cNvGrpSpPr/>
          <p:nvPr/>
        </p:nvGrpSpPr>
        <p:grpSpPr>
          <a:xfrm>
            <a:off x="6038850" y="1730375"/>
            <a:ext cx="2207824" cy="2045843"/>
            <a:chOff x="6038850" y="1730375"/>
            <a:chExt cx="2207824" cy="2045843"/>
          </a:xfrm>
        </p:grpSpPr>
        <p:sp>
          <p:nvSpPr>
            <p:cNvPr id="12" name="p07-browser-number"/>
            <p:cNvSpPr txBox="1"/>
            <p:nvPr/>
          </p:nvSpPr>
          <p:spPr>
            <a:xfrm>
              <a:off x="6038850" y="1730375"/>
              <a:ext cx="1116309" cy="1390650"/>
            </a:xfrm>
            <a:prstGeom prst="rect">
              <a:avLst/>
            </a:prstGeom>
            <a:noFill/>
            <a:ln>
              <a:noFill/>
            </a:ln>
          </p:spPr>
          <p:txBody>
            <a:bodyPr wrap="none" lIns="0" tIns="0" rIns="0" bIns="0" anchor="t" anchorCtr="0">
              <a:spAutoFit/>
            </a:bodyPr>
            <a:lstStyle/>
            <a:p>
              <a:pPr algn="l"/>
              <a:r>
                <a:rPr lang="en-US" sz="7200" b="1" dirty="0">
                  <a:solidFill>
                    <a:schemeClr val="accent2"/>
                  </a:solidFill>
                  <a:latin typeface="+mn-lt"/>
                  <a:ea typeface="+mn-ea"/>
                  <a:cs typeface="+mn-cs"/>
                </a:rPr>
                <a:t>13</a:t>
              </a:r>
            </a:p>
          </p:txBody>
        </p:sp>
        <p:sp>
          <p:nvSpPr>
            <p:cNvPr id="13" name="TextBox 13"/>
            <p:cNvSpPr txBox="1"/>
            <p:nvPr/>
          </p:nvSpPr>
          <p:spPr>
            <a:xfrm>
              <a:off x="6047232" y="2946400"/>
              <a:ext cx="219944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Browser checks</a:t>
              </a:r>
            </a:p>
          </p:txBody>
        </p:sp>
        <p:sp>
          <p:nvSpPr>
            <p:cNvPr id="14" name="TextBox 14"/>
            <p:cNvSpPr txBox="1"/>
            <p:nvPr/>
          </p:nvSpPr>
          <p:spPr>
            <a:xfrm>
              <a:off x="6047232" y="3365500"/>
              <a:ext cx="1748916"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JavaScript off</a:t>
              </a:r>
            </a:p>
          </p:txBody>
        </p:sp>
      </p:grpSp>
      <p:grpSp>
        <p:nvGrpSpPr>
          <p:cNvPr id="17" name="p07-js-off"/>
          <p:cNvGrpSpPr/>
          <p:nvPr/>
        </p:nvGrpSpPr>
        <p:grpSpPr>
          <a:xfrm>
            <a:off x="592836" y="4070350"/>
            <a:ext cx="4232664" cy="645414"/>
            <a:chOff x="592836" y="4070350"/>
            <a:chExt cx="4232664" cy="645414"/>
          </a:xfrm>
        </p:grpSpPr>
        <p:sp>
          <p:nvSpPr>
            <p:cNvPr id="16" name="TextBox 16"/>
            <p:cNvSpPr txBox="1"/>
            <p:nvPr/>
          </p:nvSpPr>
          <p:spPr>
            <a:xfrm>
              <a:off x="592836" y="4070350"/>
              <a:ext cx="4232664"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JavaScript disabled</a:t>
              </a:r>
            </a:p>
          </p:txBody>
        </p:sp>
      </p:grpSp>
      <p:grpSp>
        <p:nvGrpSpPr>
          <p:cNvPr id="19" name="p07-evidence-limits"/>
          <p:cNvGrpSpPr/>
          <p:nvPr/>
        </p:nvGrpSpPr>
        <p:grpSpPr>
          <a:xfrm>
            <a:off x="598932" y="4984750"/>
            <a:ext cx="6871739" cy="1058418"/>
            <a:chOff x="598932" y="4984750"/>
            <a:chExt cx="6871739" cy="1058418"/>
          </a:xfrm>
        </p:grpSpPr>
        <p:sp>
          <p:nvSpPr>
            <p:cNvPr id="18" name="TextBox 18"/>
            <p:cNvSpPr txBox="1"/>
            <p:nvPr/>
          </p:nvSpPr>
          <p:spPr>
            <a:xfrm>
              <a:off x="598932" y="4984750"/>
              <a:ext cx="6871739" cy="1058418"/>
            </a:xfrm>
            <a:prstGeom prst="rect">
              <a:avLst/>
            </a:prstGeom>
            <a:noFill/>
            <a:ln>
              <a:noFill/>
            </a:ln>
          </p:spPr>
          <p:txBody>
            <a:bodyPr wrap="none" lIns="0" tIns="0" rIns="0" bIns="0" anchor="t" anchorCtr="0">
              <a:spAutoFit/>
            </a:bodyPr>
            <a:lstStyle/>
            <a:p>
              <a:pPr algn="l">
                <a:lnSpc>
                  <a:spcPts val="2550"/>
                </a:lnSpc>
              </a:pPr>
              <a:r>
                <a:rPr lang="en-US" sz="2100" dirty="0">
                  <a:solidFill>
                    <a:schemeClr val="accent5"/>
                  </a:solidFill>
                  <a:latin typeface="+mn-lt"/>
                  <a:ea typeface="+mn-ea"/>
                  <a:cs typeface="+mn-cs"/>
                </a:rPr>
                <a:t>Local technical verification.</a:t>
              </a:r>
              <a:br>
                <a:rPr lang="en-US" sz="2100" dirty="0">
                  <a:solidFill>
                    <a:schemeClr val="accent5"/>
                  </a:solidFill>
                  <a:latin typeface="+mn-lt"/>
                  <a:ea typeface="+mn-ea"/>
                  <a:cs typeface="+mn-cs"/>
                </a:rPr>
              </a:br>
              <a:r>
                <a:rPr lang="en-US" sz="2100" dirty="0">
                  <a:solidFill>
                    <a:schemeClr val="accent5"/>
                  </a:solidFill>
                  <a:latin typeface="+mn-lt"/>
                  <a:ea typeface="+mn-ea"/>
                  <a:cs typeface="+mn-cs"/>
                </a:rPr>
                <a:t>Independent users and client acceptance remain pending.</a:t>
              </a:r>
              <a:br>
                <a:rPr lang="en-US" sz="2100" dirty="0">
                  <a:solidFill>
                    <a:schemeClr val="accent5"/>
                  </a:solidFill>
                  <a:latin typeface="+mn-lt"/>
                  <a:ea typeface="+mn-ea"/>
                  <a:cs typeface="+mn-cs"/>
                </a:rPr>
              </a:br>
              <a:r>
                <a:rPr lang="en-US" sz="2100" dirty="0">
                  <a:solidFill>
                    <a:schemeClr val="accent5"/>
                  </a:solidFill>
                  <a:latin typeface="+mn-lt"/>
                  <a:ea typeface="+mn-ea"/>
                  <a:cs typeface="+mn-cs"/>
                </a:rPr>
                <a:t>Mobile: viewport emulation. Network sources: simulation.</a:t>
              </a:r>
            </a:p>
          </p:txBody>
        </p:sp>
      </p:grpSp>
      <p:grpSp>
        <p:nvGrpSpPr>
          <p:cNvPr id="22" name="p07-mobile-evidence"/>
          <p:cNvGrpSpPr/>
          <p:nvPr/>
        </p:nvGrpSpPr>
        <p:grpSpPr>
          <a:xfrm>
            <a:off x="9231630" y="1600200"/>
            <a:ext cx="2356360" cy="4541520"/>
            <a:chOff x="9231630" y="1600200"/>
            <a:chExt cx="2356360" cy="4541520"/>
          </a:xfrm>
        </p:grpSpPr>
        <p:pic>
          <p:nvPicPr>
            <p:cNvPr id="20" name="Image 20"/>
            <p:cNvPicPr>
              <a:picLocks noChangeAspect="1"/>
            </p:cNvPicPr>
            <p:nvPr/>
          </p:nvPicPr>
          <p:blipFill>
            <a:blip r:embed="rId2"/>
            <a:srcRect l="0" t="0" r="0" b="38751"/>
            <a:stretch>
              <a:fillRect/>
            </a:stretch>
          </p:blipFill>
          <p:spPr>
            <a:xfrm>
              <a:off x="9486900" y="1600200"/>
              <a:ext cx="1927765" cy="4171950"/>
            </a:xfrm>
            <a:prstGeom prst="rect">
              <a:avLst/>
            </a:prstGeom>
          </p:spPr>
        </p:pic>
        <p:sp>
          <p:nvSpPr>
            <p:cNvPr id="21" name="TextBox 21"/>
            <p:cNvSpPr txBox="1"/>
            <p:nvPr/>
          </p:nvSpPr>
          <p:spPr>
            <a:xfrm>
              <a:off x="9231630" y="5848350"/>
              <a:ext cx="2356360"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Mobile view · sample data</a:t>
              </a:r>
            </a:p>
          </p:txBody>
        </p:sp>
      </p:grpSp>
      <p:grpSp>
        <p:nvGrpSpPr>
          <p:cNvPr id="24" name="p07-page"/>
          <p:cNvGrpSpPr/>
          <p:nvPr/>
        </p:nvGrpSpPr>
        <p:grpSpPr>
          <a:xfrm>
            <a:off x="11350153" y="6229350"/>
            <a:ext cx="239867" cy="293370"/>
            <a:chOff x="11350153" y="6229350"/>
            <a:chExt cx="239867" cy="293370"/>
          </a:xfrm>
        </p:grpSpPr>
        <p:sp>
          <p:nvSpPr>
            <p:cNvPr id="23" name="TextBox 23"/>
            <p:cNvSpPr txBox="1"/>
            <p:nvPr/>
          </p:nvSpPr>
          <p:spPr>
            <a:xfrm>
              <a:off x="11350153" y="6229350"/>
              <a:ext cx="239867"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p08-title"/>
          <p:cNvGrpSpPr/>
          <p:nvPr/>
        </p:nvGrpSpPr>
        <p:grpSpPr>
          <a:xfrm>
            <a:off x="590550" y="508000"/>
            <a:ext cx="8106002" cy="819150"/>
            <a:chOff x="590550" y="508000"/>
            <a:chExt cx="8106002" cy="819150"/>
          </a:xfrm>
        </p:grpSpPr>
        <p:sp>
          <p:nvSpPr>
            <p:cNvPr id="2" name="TextBox 2"/>
            <p:cNvSpPr txBox="1"/>
            <p:nvPr/>
          </p:nvSpPr>
          <p:spPr>
            <a:xfrm>
              <a:off x="590550" y="508000"/>
              <a:ext cx="8106002" cy="819150"/>
            </a:xfrm>
            <a:prstGeom prst="rect">
              <a:avLst/>
            </a:prstGeom>
            <a:noFill/>
            <a:ln>
              <a:noFill/>
            </a:ln>
          </p:spPr>
          <p:txBody>
            <a:bodyPr wrap="none" lIns="0" tIns="0" rIns="0" bIns="0" anchor="t" anchorCtr="0">
              <a:spAutoFit/>
            </a:bodyPr>
            <a:lstStyle/>
            <a:p>
              <a:pPr algn="l"/>
              <a:r>
                <a:rPr lang="en-US" sz="4200" b="1" dirty="0">
                  <a:solidFill>
                    <a:schemeClr val="accent1"/>
                  </a:solidFill>
                  <a:latin typeface="+mn-lt"/>
                  <a:ea typeface="+mn-ea"/>
                  <a:cs typeface="+mn-cs"/>
                </a:rPr>
                <a:t>People review what AI assists</a:t>
              </a:r>
            </a:p>
          </p:txBody>
        </p:sp>
      </p:grpSp>
      <p:grpSp>
        <p:nvGrpSpPr>
          <p:cNvPr id="5" name="p08-proposed-label"/>
          <p:cNvGrpSpPr/>
          <p:nvPr/>
        </p:nvGrpSpPr>
        <p:grpSpPr>
          <a:xfrm>
            <a:off x="598932" y="1479550"/>
            <a:ext cx="4569104" cy="410718"/>
            <a:chOff x="598932" y="1479550"/>
            <a:chExt cx="4569104" cy="410718"/>
          </a:xfrm>
        </p:grpSpPr>
        <p:sp>
          <p:nvSpPr>
            <p:cNvPr id="4" name="TextBox 4"/>
            <p:cNvSpPr txBox="1"/>
            <p:nvPr/>
          </p:nvSpPr>
          <p:spPr>
            <a:xfrm>
              <a:off x="598932" y="1479550"/>
              <a:ext cx="4569104"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PROPOSED RESPONSIBILITIES</a:t>
              </a:r>
            </a:p>
          </p:txBody>
        </p:sp>
      </p:grpSp>
      <p:grpSp>
        <p:nvGrpSpPr>
          <p:cNvPr id="8" name="p08-liang"/>
          <p:cNvGrpSpPr/>
          <p:nvPr/>
        </p:nvGrpSpPr>
        <p:grpSpPr>
          <a:xfrm>
            <a:off x="594360" y="1955800"/>
            <a:ext cx="3915884" cy="886968"/>
            <a:chOff x="594360" y="1955800"/>
            <a:chExt cx="3915884" cy="886968"/>
          </a:xfrm>
        </p:grpSpPr>
        <p:sp>
          <p:nvSpPr>
            <p:cNvPr id="6" name="TextBox 6"/>
            <p:cNvSpPr txBox="1"/>
            <p:nvPr/>
          </p:nvSpPr>
          <p:spPr>
            <a:xfrm>
              <a:off x="594360" y="1955800"/>
              <a:ext cx="2727958"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Liang Bangyu</a:t>
              </a:r>
            </a:p>
          </p:txBody>
        </p:sp>
        <p:sp>
          <p:nvSpPr>
            <p:cNvPr id="7" name="TextBox 7"/>
            <p:cNvSpPr txBox="1"/>
            <p:nvPr/>
          </p:nvSpPr>
          <p:spPr>
            <a:xfrm>
              <a:off x="598932" y="2432050"/>
              <a:ext cx="3911312"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Coordination and requirements</a:t>
              </a:r>
            </a:p>
          </p:txBody>
        </p:sp>
      </p:grpSp>
      <p:grpSp>
        <p:nvGrpSpPr>
          <p:cNvPr id="11" name="p08-li"/>
          <p:cNvGrpSpPr/>
          <p:nvPr/>
        </p:nvGrpSpPr>
        <p:grpSpPr>
          <a:xfrm>
            <a:off x="594360" y="2927350"/>
            <a:ext cx="3979809" cy="886968"/>
            <a:chOff x="594360" y="2927350"/>
            <a:chExt cx="3979809" cy="886968"/>
          </a:xfrm>
        </p:grpSpPr>
        <p:sp>
          <p:nvSpPr>
            <p:cNvPr id="9" name="TextBox 9"/>
            <p:cNvSpPr txBox="1"/>
            <p:nvPr/>
          </p:nvSpPr>
          <p:spPr>
            <a:xfrm>
              <a:off x="594360" y="2927350"/>
              <a:ext cx="2569566"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Li Yuanxiang</a:t>
              </a:r>
            </a:p>
          </p:txBody>
        </p:sp>
        <p:sp>
          <p:nvSpPr>
            <p:cNvPr id="10" name="TextBox 10"/>
            <p:cNvSpPr txBox="1"/>
            <p:nvPr/>
          </p:nvSpPr>
          <p:spPr>
            <a:xfrm>
              <a:off x="598932" y="3403600"/>
              <a:ext cx="3975237"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Data, backend and class model</a:t>
              </a:r>
            </a:p>
          </p:txBody>
        </p:sp>
      </p:grpSp>
      <p:grpSp>
        <p:nvGrpSpPr>
          <p:cNvPr id="14" name="p08-liu-yixuan"/>
          <p:cNvGrpSpPr/>
          <p:nvPr/>
        </p:nvGrpSpPr>
        <p:grpSpPr>
          <a:xfrm>
            <a:off x="594360" y="3898900"/>
            <a:ext cx="3334776" cy="886968"/>
            <a:chOff x="594360" y="3898900"/>
            <a:chExt cx="3334776" cy="886968"/>
          </a:xfrm>
        </p:grpSpPr>
        <p:sp>
          <p:nvSpPr>
            <p:cNvPr id="12" name="TextBox 12"/>
            <p:cNvSpPr txBox="1"/>
            <p:nvPr/>
          </p:nvSpPr>
          <p:spPr>
            <a:xfrm>
              <a:off x="594360" y="3898900"/>
              <a:ext cx="2098081"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Liu Yixuan</a:t>
              </a:r>
            </a:p>
          </p:txBody>
        </p:sp>
        <p:sp>
          <p:nvSpPr>
            <p:cNvPr id="13" name="TextBox 13"/>
            <p:cNvSpPr txBox="1"/>
            <p:nvPr/>
          </p:nvSpPr>
          <p:spPr>
            <a:xfrm>
              <a:off x="598932" y="4375150"/>
              <a:ext cx="3330204"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Templates and scheduling</a:t>
              </a:r>
            </a:p>
          </p:txBody>
        </p:sp>
      </p:grpSp>
      <p:grpSp>
        <p:nvGrpSpPr>
          <p:cNvPr id="17" name="p08-liu-shuai"/>
          <p:cNvGrpSpPr/>
          <p:nvPr/>
        </p:nvGrpSpPr>
        <p:grpSpPr>
          <a:xfrm>
            <a:off x="594360" y="4870450"/>
            <a:ext cx="2517317" cy="886968"/>
            <a:chOff x="594360" y="4870450"/>
            <a:chExt cx="2517317" cy="886968"/>
          </a:xfrm>
        </p:grpSpPr>
        <p:sp>
          <p:nvSpPr>
            <p:cNvPr id="15" name="TextBox 15"/>
            <p:cNvSpPr txBox="1"/>
            <p:nvPr/>
          </p:nvSpPr>
          <p:spPr>
            <a:xfrm>
              <a:off x="594360" y="4870450"/>
              <a:ext cx="1873486"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Liu Shuai</a:t>
              </a:r>
            </a:p>
          </p:txBody>
        </p:sp>
        <p:sp>
          <p:nvSpPr>
            <p:cNvPr id="16" name="TextBox 16"/>
            <p:cNvSpPr txBox="1"/>
            <p:nvPr/>
          </p:nvSpPr>
          <p:spPr>
            <a:xfrm>
              <a:off x="598932" y="5346700"/>
              <a:ext cx="2512745"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Testing and release</a:t>
              </a:r>
            </a:p>
          </p:txBody>
        </p:sp>
      </p:grpSp>
      <p:grpSp>
        <p:nvGrpSpPr>
          <p:cNvPr id="20" name="p08-ai-output"/>
          <p:cNvGrpSpPr/>
          <p:nvPr/>
        </p:nvGrpSpPr>
        <p:grpSpPr>
          <a:xfrm>
            <a:off x="6993636" y="1917700"/>
            <a:ext cx="3935925" cy="1848993"/>
            <a:chOff x="6993636" y="1917700"/>
            <a:chExt cx="3935925" cy="1848993"/>
          </a:xfrm>
        </p:grpSpPr>
        <p:sp>
          <p:nvSpPr>
            <p:cNvPr id="18" name="TextBox 18"/>
            <p:cNvSpPr txBox="1"/>
            <p:nvPr/>
          </p:nvSpPr>
          <p:spPr>
            <a:xfrm>
              <a:off x="6993636" y="1917700"/>
              <a:ext cx="3935925"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AI-assisted output</a:t>
              </a:r>
            </a:p>
          </p:txBody>
        </p:sp>
        <p:sp>
          <p:nvSpPr>
            <p:cNvPr id="19" name="TextBox 19"/>
            <p:cNvSpPr txBox="1"/>
            <p:nvPr/>
          </p:nvSpPr>
          <p:spPr>
            <a:xfrm>
              <a:off x="6999732" y="2670175"/>
              <a:ext cx="2556800" cy="1096518"/>
            </a:xfrm>
            <a:prstGeom prst="rect">
              <a:avLst/>
            </a:prstGeom>
            <a:noFill/>
            <a:ln>
              <a:noFill/>
            </a:ln>
          </p:spPr>
          <p:txBody>
            <a:bodyPr wrap="none" lIns="0" tIns="0" rIns="0" bIns="0" anchor="t" anchorCtr="0">
              <a:spAutoFit/>
            </a:bodyPr>
            <a:lstStyle/>
            <a:p>
              <a:pPr algn="l">
                <a:lnSpc>
                  <a:spcPts val="2700"/>
                </a:lnSpc>
              </a:pPr>
              <a:r>
                <a:rPr lang="en-US" sz="2100" dirty="0">
                  <a:solidFill>
                    <a:schemeClr val="accent5"/>
                  </a:solidFill>
                  <a:latin typeface="+mn-lt"/>
                  <a:ea typeface="+mn-ea"/>
                  <a:cs typeface="+mn-cs"/>
                </a:rPr>
                <a:t>Source comparison</a:t>
              </a:r>
              <a:br>
                <a:rPr lang="en-US" sz="2100" dirty="0">
                  <a:solidFill>
                    <a:schemeClr val="accent5"/>
                  </a:solidFill>
                  <a:latin typeface="+mn-lt"/>
                  <a:ea typeface="+mn-ea"/>
                  <a:cs typeface="+mn-cs"/>
                </a:rPr>
              </a:br>
              <a:r>
                <a:rPr lang="en-US" sz="2100" dirty="0">
                  <a:solidFill>
                    <a:schemeClr val="accent5"/>
                  </a:solidFill>
                  <a:latin typeface="+mn-lt"/>
                  <a:ea typeface="+mn-ea"/>
                  <a:cs typeface="+mn-cs"/>
                </a:rPr>
                <a:t>Code and documents</a:t>
              </a:r>
              <a:br>
                <a:rPr lang="en-US" sz="2100" dirty="0">
                  <a:solidFill>
                    <a:schemeClr val="accent5"/>
                  </a:solidFill>
                  <a:latin typeface="+mn-lt"/>
                  <a:ea typeface="+mn-ea"/>
                  <a:cs typeface="+mn-cs"/>
                </a:rPr>
              </a:br>
              <a:r>
                <a:rPr lang="en-US" sz="2100" dirty="0">
                  <a:solidFill>
                    <a:schemeClr val="accent5"/>
                  </a:solidFill>
                  <a:latin typeface="+mn-lt"/>
                  <a:ea typeface="+mn-ea"/>
                  <a:cs typeface="+mn-cs"/>
                </a:rPr>
                <a:t>Technical checks</a:t>
              </a:r>
            </a:p>
          </p:txBody>
        </p:sp>
      </p:grpSp>
      <p:grpSp>
        <p:nvGrpSpPr>
          <p:cNvPr id="22" name="p08-human-review"/>
          <p:cNvGrpSpPr/>
          <p:nvPr/>
        </p:nvGrpSpPr>
        <p:grpSpPr>
          <a:xfrm>
            <a:off x="6995160" y="4241800"/>
            <a:ext cx="3927043" cy="1043940"/>
            <a:chOff x="6995160" y="4241800"/>
            <a:chExt cx="3927043" cy="1043940"/>
          </a:xfrm>
        </p:grpSpPr>
        <p:sp>
          <p:nvSpPr>
            <p:cNvPr id="21" name="TextBox 21"/>
            <p:cNvSpPr txBox="1"/>
            <p:nvPr/>
          </p:nvSpPr>
          <p:spPr>
            <a:xfrm>
              <a:off x="6995160" y="4241800"/>
              <a:ext cx="3927043"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2"/>
                  </a:solidFill>
                  <a:latin typeface="+mn-lt"/>
                  <a:ea typeface="+mn-ea"/>
                  <a:cs typeface="+mn-cs"/>
                </a:rPr>
                <a:t>Members review,</a:t>
              </a:r>
              <a:br>
                <a:rPr lang="en-US" sz="3000" b="1" dirty="0">
                  <a:solidFill>
                    <a:schemeClr val="accent2"/>
                  </a:solidFill>
                  <a:latin typeface="+mn-lt"/>
                  <a:ea typeface="+mn-ea"/>
                  <a:cs typeface="+mn-cs"/>
                </a:rPr>
              </a:br>
              <a:r>
                <a:rPr lang="en-US" sz="3000" b="1" dirty="0">
                  <a:solidFill>
                    <a:schemeClr val="accent2"/>
                  </a:solidFill>
                  <a:latin typeface="+mn-lt"/>
                  <a:ea typeface="+mn-ea"/>
                  <a:cs typeface="+mn-cs"/>
                </a:rPr>
                <a:t>explain and rehearse.</a:t>
              </a:r>
            </a:p>
          </p:txBody>
        </p:sp>
      </p:grpSp>
      <p:grpSp>
        <p:nvGrpSpPr>
          <p:cNvPr id="24" name="p08-status-note"/>
          <p:cNvGrpSpPr/>
          <p:nvPr/>
        </p:nvGrpSpPr>
        <p:grpSpPr>
          <a:xfrm>
            <a:off x="601980" y="5972175"/>
            <a:ext cx="9372579" cy="293370"/>
            <a:chOff x="601980" y="5972175"/>
            <a:chExt cx="9372579" cy="293370"/>
          </a:xfrm>
        </p:grpSpPr>
        <p:sp>
          <p:nvSpPr>
            <p:cNvPr id="23" name="TextBox 23"/>
            <p:cNvSpPr txBox="1"/>
            <p:nvPr/>
          </p:nvSpPr>
          <p:spPr>
            <a:xfrm>
              <a:off x="601980" y="5972175"/>
              <a:ext cx="9372579"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Confirm actual contributions before presenting · Local board records files and evidence from 26 October.</a:t>
              </a:r>
            </a:p>
          </p:txBody>
        </p:sp>
      </p:grpSp>
      <p:grpSp>
        <p:nvGrpSpPr>
          <p:cNvPr id="26" name="p08-page"/>
          <p:cNvGrpSpPr/>
          <p:nvPr/>
        </p:nvGrpSpPr>
        <p:grpSpPr>
          <a:xfrm>
            <a:off x="11350153" y="6229350"/>
            <a:ext cx="239867" cy="293370"/>
            <a:chOff x="11350153" y="6229350"/>
            <a:chExt cx="239867" cy="293370"/>
          </a:xfrm>
        </p:grpSpPr>
        <p:sp>
          <p:nvSpPr>
            <p:cNvPr id="25" name="TextBox 25"/>
            <p:cNvSpPr txBox="1"/>
            <p:nvPr/>
          </p:nvSpPr>
          <p:spPr>
            <a:xfrm>
              <a:off x="11350153" y="6229350"/>
              <a:ext cx="239867"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p09-title"/>
          <p:cNvGrpSpPr/>
          <p:nvPr/>
        </p:nvGrpSpPr>
        <p:grpSpPr>
          <a:xfrm>
            <a:off x="590550" y="508000"/>
            <a:ext cx="6499154" cy="819150"/>
            <a:chOff x="590550" y="508000"/>
            <a:chExt cx="6499154" cy="819150"/>
          </a:xfrm>
        </p:grpSpPr>
        <p:sp>
          <p:nvSpPr>
            <p:cNvPr id="2" name="TextBox 2"/>
            <p:cNvSpPr txBox="1"/>
            <p:nvPr/>
          </p:nvSpPr>
          <p:spPr>
            <a:xfrm>
              <a:off x="590550" y="508000"/>
              <a:ext cx="6499154" cy="819150"/>
            </a:xfrm>
            <a:prstGeom prst="rect">
              <a:avLst/>
            </a:prstGeom>
            <a:noFill/>
            <a:ln>
              <a:noFill/>
            </a:ln>
          </p:spPr>
          <p:txBody>
            <a:bodyPr wrap="none" lIns="0" tIns="0" rIns="0" bIns="0" anchor="t" anchorCtr="0">
              <a:spAutoFit/>
            </a:bodyPr>
            <a:lstStyle/>
            <a:p>
              <a:pPr algn="l"/>
              <a:r>
                <a:rPr lang="en-US" sz="4200" b="1" dirty="0">
                  <a:solidFill>
                    <a:srgbClr val="FFFFFF"/>
                  </a:solidFill>
                  <a:latin typeface="+mn-lt"/>
                  <a:ea typeface="+mn-ea"/>
                  <a:cs typeface="+mn-cs"/>
                </a:rPr>
                <a:t>What changed, and why</a:t>
              </a:r>
            </a:p>
          </p:txBody>
        </p:sp>
      </p:grpSp>
      <p:grpSp>
        <p:nvGrpSpPr>
          <p:cNvPr id="5" name="p09-stack-correction"/>
          <p:cNvGrpSpPr/>
          <p:nvPr/>
        </p:nvGrpSpPr>
        <p:grpSpPr>
          <a:xfrm>
            <a:off x="594360" y="2012950"/>
            <a:ext cx="7205649" cy="586740"/>
            <a:chOff x="594360" y="2012950"/>
            <a:chExt cx="7205649" cy="586740"/>
          </a:xfrm>
        </p:grpSpPr>
        <p:sp>
          <p:nvSpPr>
            <p:cNvPr id="4" name="TextBox 4"/>
            <p:cNvSpPr txBox="1"/>
            <p:nvPr/>
          </p:nvSpPr>
          <p:spPr>
            <a:xfrm>
              <a:off x="594360" y="2012950"/>
              <a:ext cx="7205649" cy="586740"/>
            </a:xfrm>
            <a:prstGeom prst="rect">
              <a:avLst/>
            </a:prstGeom>
            <a:noFill/>
            <a:ln>
              <a:noFill/>
            </a:ln>
          </p:spPr>
          <p:txBody>
            <a:bodyPr wrap="none" lIns="0" tIns="0" rIns="0" bIns="0" anchor="t" anchorCtr="0">
              <a:spAutoFit/>
            </a:bodyPr>
            <a:lstStyle/>
            <a:p>
              <a:pPr algn="l"/>
              <a:r>
                <a:rPr lang="en-US" sz="3000" dirty="0">
                  <a:solidFill>
                    <a:srgbClr val="FFFFFF"/>
                  </a:solidFill>
                  <a:latin typeface="+mn-lt"/>
                  <a:ea typeface="+mn-ea"/>
                  <a:cs typeface="+mn-cs"/>
                </a:rPr>
                <a:t xml:space="preserve">Role workspaces → </a:t>
              </a:r>
              <a:r>
                <a:rPr lang="en-US" sz="3000" b="1" dirty="0">
                  <a:solidFill>
                    <a:schemeClr val="accent3"/>
                  </a:solidFill>
                  <a:latin typeface="+mn-lt"/>
                  <a:ea typeface="+mn-ea"/>
                  <a:cs typeface="+mn-cs"/>
                </a:rPr>
                <a:t>clearer navigation</a:t>
              </a:r>
            </a:p>
          </p:txBody>
        </p:sp>
      </p:grpSp>
      <p:grpSp>
        <p:nvGrpSpPr>
          <p:cNvPr id="7" name="p09-deletion-correction"/>
          <p:cNvGrpSpPr/>
          <p:nvPr/>
        </p:nvGrpSpPr>
        <p:grpSpPr>
          <a:xfrm>
            <a:off x="594360" y="3251200"/>
            <a:ext cx="7474756" cy="586740"/>
            <a:chOff x="594360" y="3251200"/>
            <a:chExt cx="7474756" cy="586740"/>
          </a:xfrm>
        </p:grpSpPr>
        <p:sp>
          <p:nvSpPr>
            <p:cNvPr id="6" name="TextBox 6"/>
            <p:cNvSpPr txBox="1"/>
            <p:nvPr/>
          </p:nvSpPr>
          <p:spPr>
            <a:xfrm>
              <a:off x="594360" y="3251200"/>
              <a:ext cx="7474756" cy="586740"/>
            </a:xfrm>
            <a:prstGeom prst="rect">
              <a:avLst/>
            </a:prstGeom>
            <a:noFill/>
            <a:ln>
              <a:noFill/>
            </a:ln>
          </p:spPr>
          <p:txBody>
            <a:bodyPr wrap="none" lIns="0" tIns="0" rIns="0" bIns="0" anchor="t" anchorCtr="0">
              <a:spAutoFit/>
            </a:bodyPr>
            <a:lstStyle/>
            <a:p>
              <a:pPr algn="l"/>
              <a:r>
                <a:rPr lang="en-US" sz="3000" dirty="0">
                  <a:solidFill>
                    <a:srgbClr val="FFFFFF"/>
                  </a:solidFill>
                  <a:latin typeface="+mn-lt"/>
                  <a:ea typeface="+mn-ea"/>
                  <a:cs typeface="+mn-cs"/>
                </a:rPr>
                <a:t xml:space="preserve">Previous week → </a:t>
              </a:r>
              <a:r>
                <a:rPr lang="en-US" sz="3000" b="1" dirty="0">
                  <a:solidFill>
                    <a:schemeClr val="accent3"/>
                  </a:solidFill>
                  <a:latin typeface="+mn-lt"/>
                  <a:ea typeface="+mn-ea"/>
                  <a:cs typeface="+mn-cs"/>
                </a:rPr>
                <a:t>unsaved manual draft</a:t>
              </a:r>
            </a:p>
          </p:txBody>
        </p:sp>
      </p:grpSp>
      <p:grpSp>
        <p:nvGrpSpPr>
          <p:cNvPr id="9" name="p09-evidence-correction"/>
          <p:cNvGrpSpPr/>
          <p:nvPr/>
        </p:nvGrpSpPr>
        <p:grpSpPr>
          <a:xfrm>
            <a:off x="594360" y="4489450"/>
            <a:ext cx="6524572" cy="586740"/>
            <a:chOff x="594360" y="4489450"/>
            <a:chExt cx="6524572" cy="586740"/>
          </a:xfrm>
        </p:grpSpPr>
        <p:sp>
          <p:nvSpPr>
            <p:cNvPr id="8" name="TextBox 8"/>
            <p:cNvSpPr txBox="1"/>
            <p:nvPr/>
          </p:nvSpPr>
          <p:spPr>
            <a:xfrm>
              <a:off x="594360" y="4489450"/>
              <a:ext cx="6524572" cy="586740"/>
            </a:xfrm>
            <a:prstGeom prst="rect">
              <a:avLst/>
            </a:prstGeom>
            <a:noFill/>
            <a:ln>
              <a:noFill/>
            </a:ln>
          </p:spPr>
          <p:txBody>
            <a:bodyPr wrap="none" lIns="0" tIns="0" rIns="0" bIns="0" anchor="t" anchorCtr="0">
              <a:spAutoFit/>
            </a:bodyPr>
            <a:lstStyle/>
            <a:p>
              <a:pPr algn="l"/>
              <a:r>
                <a:rPr lang="en-US" sz="3000" dirty="0">
                  <a:solidFill>
                    <a:srgbClr val="FFFFFF"/>
                  </a:solidFill>
                  <a:latin typeface="+mn-lt"/>
                  <a:ea typeface="+mn-ea"/>
                  <a:cs typeface="+mn-cs"/>
                </a:rPr>
                <a:t xml:space="preserve">CSV text → </a:t>
              </a:r>
              <a:r>
                <a:rPr lang="en-US" sz="3000" b="1" dirty="0">
                  <a:solidFill>
                    <a:schemeClr val="accent3"/>
                  </a:solidFill>
                  <a:latin typeface="+mn-lt"/>
                  <a:ea typeface="+mn-ea"/>
                  <a:cs typeface="+mn-cs"/>
                </a:rPr>
                <a:t>formula-safe handling</a:t>
              </a:r>
            </a:p>
          </p:txBody>
        </p:sp>
      </p:grpSp>
      <p:grpSp>
        <p:nvGrpSpPr>
          <p:cNvPr id="11" name="p09-next-step"/>
          <p:cNvGrpSpPr/>
          <p:nvPr/>
        </p:nvGrpSpPr>
        <p:grpSpPr>
          <a:xfrm>
            <a:off x="598932" y="5765800"/>
            <a:ext cx="7463581" cy="410718"/>
            <a:chOff x="598932" y="5765800"/>
            <a:chExt cx="7463581" cy="410718"/>
          </a:xfrm>
        </p:grpSpPr>
        <p:sp>
          <p:nvSpPr>
            <p:cNvPr id="10" name="TextBox 10"/>
            <p:cNvSpPr txBox="1"/>
            <p:nvPr/>
          </p:nvSpPr>
          <p:spPr>
            <a:xfrm>
              <a:off x="598932" y="5765800"/>
              <a:ext cx="7463581"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Next: independent user testing and a timed team rehearsal.</a:t>
              </a:r>
            </a:p>
          </p:txBody>
        </p:sp>
      </p:grpSp>
      <p:grpSp>
        <p:nvGrpSpPr>
          <p:cNvPr id="13" name="p09-page"/>
          <p:cNvGrpSpPr/>
          <p:nvPr/>
        </p:nvGrpSpPr>
        <p:grpSpPr>
          <a:xfrm>
            <a:off x="11350153" y="6229350"/>
            <a:ext cx="239867" cy="293370"/>
            <a:chOff x="11350153" y="6229350"/>
            <a:chExt cx="239867" cy="293370"/>
          </a:xfrm>
        </p:grpSpPr>
        <p:sp>
          <p:nvSpPr>
            <p:cNvPr id="12" name="TextBox 12"/>
            <p:cNvSpPr txBox="1"/>
            <p:nvPr/>
          </p:nvSpPr>
          <p:spPr>
            <a:xfrm>
              <a:off x="11350153" y="6229350"/>
              <a:ext cx="239867" cy="293370"/>
            </a:xfrm>
            <a:prstGeom prst="rect">
              <a:avLst/>
            </a:prstGeom>
            <a:noFill/>
            <a:ln>
              <a:noFill/>
            </a:ln>
          </p:spPr>
          <p:txBody>
            <a:bodyPr wrap="none" lIns="0" tIns="0" rIns="0" bIns="0" anchor="t" anchorCtr="0">
              <a:spAutoFit/>
            </a:bodyPr>
            <a:lstStyle/>
            <a:p>
              <a:pPr algn="r"/>
              <a:r>
                <a:rPr lang="en-US" sz="1500" dirty="0">
                  <a:solidFill>
                    <a:schemeClr val="accent3"/>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p10-title"/>
          <p:cNvGrpSpPr/>
          <p:nvPr/>
        </p:nvGrpSpPr>
        <p:grpSpPr>
          <a:xfrm>
            <a:off x="590550" y="508000"/>
            <a:ext cx="6214590" cy="819150"/>
            <a:chOff x="590550" y="508000"/>
            <a:chExt cx="6214590" cy="819150"/>
          </a:xfrm>
        </p:grpSpPr>
        <p:sp>
          <p:nvSpPr>
            <p:cNvPr id="2" name="TextBox 2"/>
            <p:cNvSpPr txBox="1"/>
            <p:nvPr/>
          </p:nvSpPr>
          <p:spPr>
            <a:xfrm>
              <a:off x="590550" y="508000"/>
              <a:ext cx="6214590" cy="819150"/>
            </a:xfrm>
            <a:prstGeom prst="rect">
              <a:avLst/>
            </a:prstGeom>
            <a:noFill/>
            <a:ln>
              <a:noFill/>
            </a:ln>
          </p:spPr>
          <p:txBody>
            <a:bodyPr wrap="none" lIns="0" tIns="0" rIns="0" bIns="0" anchor="t" anchorCtr="0">
              <a:spAutoFit/>
            </a:bodyPr>
            <a:lstStyle/>
            <a:p>
              <a:pPr algn="l"/>
              <a:r>
                <a:rPr lang="en-US" sz="4200" b="1" dirty="0">
                  <a:solidFill>
                    <a:schemeClr val="accent1"/>
                  </a:solidFill>
                  <a:latin typeface="+mn-lt"/>
                  <a:ea typeface="+mn-ea"/>
                  <a:cs typeface="+mn-cs"/>
                </a:rPr>
                <a:t>Ready for client review</a:t>
              </a:r>
            </a:p>
          </p:txBody>
        </p:sp>
      </p:grpSp>
      <p:grpSp>
        <p:nvGrpSpPr>
          <p:cNvPr id="5" name="p10-delivery-takeaway"/>
          <p:cNvGrpSpPr/>
          <p:nvPr/>
        </p:nvGrpSpPr>
        <p:grpSpPr>
          <a:xfrm>
            <a:off x="592836" y="1987550"/>
            <a:ext cx="3597974" cy="1159764"/>
            <a:chOff x="592836" y="1987550"/>
            <a:chExt cx="3597974" cy="1159764"/>
          </a:xfrm>
        </p:grpSpPr>
        <p:sp>
          <p:nvSpPr>
            <p:cNvPr id="4" name="TextBox 4"/>
            <p:cNvSpPr txBox="1"/>
            <p:nvPr/>
          </p:nvSpPr>
          <p:spPr>
            <a:xfrm>
              <a:off x="592836" y="1987550"/>
              <a:ext cx="3597974" cy="1159764"/>
            </a:xfrm>
            <a:prstGeom prst="rect">
              <a:avLst/>
            </a:prstGeom>
            <a:noFill/>
            <a:ln>
              <a:noFill/>
            </a:ln>
          </p:spPr>
          <p:txBody>
            <a:bodyPr wrap="none" lIns="0" tIns="0" rIns="0" bIns="0" anchor="t" anchorCtr="0">
              <a:spAutoFit/>
            </a:bodyPr>
            <a:lstStyle/>
            <a:p>
              <a:pPr algn="l">
                <a:lnSpc>
                  <a:spcPts val="4050"/>
                </a:lnSpc>
              </a:pPr>
              <a:r>
                <a:rPr lang="en-US" sz="3300" b="1" dirty="0">
                  <a:solidFill>
                    <a:schemeClr val="accent1"/>
                  </a:solidFill>
                  <a:latin typeface="+mn-lt"/>
                  <a:ea typeface="+mn-ea"/>
                  <a:cs typeface="+mn-cs"/>
                </a:rPr>
                <a:t>Five deliverables.</a:t>
              </a:r>
              <a:br>
                <a:rPr lang="en-US" sz="3300" b="1" dirty="0">
                  <a:solidFill>
                    <a:schemeClr val="accent1"/>
                  </a:solidFill>
                  <a:latin typeface="+mn-lt"/>
                  <a:ea typeface="+mn-ea"/>
                  <a:cs typeface="+mn-cs"/>
                </a:rPr>
              </a:br>
              <a:r>
                <a:rPr lang="en-US" sz="3300" b="1" dirty="0">
                  <a:solidFill>
                    <a:schemeClr val="accent2"/>
                  </a:solidFill>
                  <a:latin typeface="+mn-lt"/>
                  <a:ea typeface="+mn-ea"/>
                  <a:cs typeface="+mn-cs"/>
                </a:rPr>
                <a:t>One local release.</a:t>
              </a:r>
            </a:p>
          </p:txBody>
        </p:sp>
      </p:grpSp>
      <p:grpSp>
        <p:nvGrpSpPr>
          <p:cNvPr id="7" name="p10-review-actions"/>
          <p:cNvGrpSpPr/>
          <p:nvPr/>
        </p:nvGrpSpPr>
        <p:grpSpPr>
          <a:xfrm>
            <a:off x="598932" y="3657600"/>
            <a:ext cx="4083604" cy="1325118"/>
            <a:chOff x="598932" y="3657600"/>
            <a:chExt cx="4083604" cy="1325118"/>
          </a:xfrm>
        </p:grpSpPr>
        <p:sp>
          <p:nvSpPr>
            <p:cNvPr id="6" name="TextBox 6"/>
            <p:cNvSpPr txBox="1"/>
            <p:nvPr/>
          </p:nvSpPr>
          <p:spPr>
            <a:xfrm>
              <a:off x="598932" y="3657600"/>
              <a:ext cx="4083604" cy="1325118"/>
            </a:xfrm>
            <a:prstGeom prst="rect">
              <a:avLst/>
            </a:prstGeom>
            <a:noFill/>
            <a:ln>
              <a:noFill/>
            </a:ln>
          </p:spPr>
          <p:txBody>
            <a:bodyPr wrap="none" lIns="0" tIns="0" rIns="0" bIns="0" anchor="t" anchorCtr="0">
              <a:spAutoFit/>
            </a:bodyPr>
            <a:lstStyle/>
            <a:p>
              <a:pPr algn="l">
                <a:lnSpc>
                  <a:spcPts val="3600"/>
                </a:lnSpc>
              </a:pPr>
              <a:r>
                <a:rPr lang="en-US" sz="2100" dirty="0">
                  <a:solidFill>
                    <a:schemeClr val="dk1"/>
                  </a:solidFill>
                  <a:latin typeface="+mn-lt"/>
                  <a:ea typeface="+mn-ea"/>
                  <a:cs typeface="+mn-cs"/>
                </a:rPr>
                <a:t>Demonstrate the identified release</a:t>
              </a:r>
              <a:br>
                <a:rPr lang="en-US" sz="2100" dirty="0">
                  <a:solidFill>
                    <a:schemeClr val="dk1"/>
                  </a:solidFill>
                  <a:latin typeface="+mn-lt"/>
                  <a:ea typeface="+mn-ea"/>
                  <a:cs typeface="+mn-cs"/>
                </a:rPr>
              </a:br>
              <a:r>
                <a:rPr lang="en-US" sz="2100" dirty="0">
                  <a:solidFill>
                    <a:schemeClr val="dk1"/>
                  </a:solidFill>
                  <a:latin typeface="+mn-lt"/>
                  <a:ea typeface="+mn-ea"/>
                  <a:cs typeface="+mn-cs"/>
                </a:rPr>
                <a:t>Record findings</a:t>
              </a:r>
              <a:br>
                <a:rPr lang="en-US" sz="2100" dirty="0">
                  <a:solidFill>
                    <a:schemeClr val="dk1"/>
                  </a:solidFill>
                  <a:latin typeface="+mn-lt"/>
                  <a:ea typeface="+mn-ea"/>
                  <a:cs typeface="+mn-cs"/>
                </a:rPr>
              </a:br>
              <a:r>
                <a:rPr lang="en-US" sz="2100" dirty="0">
                  <a:solidFill>
                    <a:schemeClr val="dk1"/>
                  </a:solidFill>
                  <a:latin typeface="+mn-lt"/>
                  <a:ea typeface="+mn-ea"/>
                  <a:cs typeface="+mn-cs"/>
                </a:rPr>
                <a:t>Agree corrections</a:t>
              </a:r>
            </a:p>
          </p:txBody>
        </p:sp>
      </p:grpSp>
      <p:grpSp>
        <p:nvGrpSpPr>
          <p:cNvPr id="10" name="p10-employee-view"/>
          <p:cNvGrpSpPr/>
          <p:nvPr/>
        </p:nvGrpSpPr>
        <p:grpSpPr>
          <a:xfrm>
            <a:off x="6050280" y="1714500"/>
            <a:ext cx="5515642" cy="4198620"/>
            <a:chOff x="6050280" y="1714500"/>
            <a:chExt cx="5515642" cy="4198620"/>
          </a:xfrm>
        </p:grpSpPr>
        <p:pic>
          <p:nvPicPr>
            <p:cNvPr id="8" name="Image 8"/>
            <p:cNvPicPr>
              <a:picLocks noChangeAspect="1"/>
            </p:cNvPicPr>
            <p:nvPr/>
          </p:nvPicPr>
          <p:blipFill>
            <a:blip r:embed="rId2"/>
            <a:stretch>
              <a:fillRect/>
            </a:stretch>
          </p:blipFill>
          <p:spPr>
            <a:xfrm>
              <a:off x="6057900" y="1714500"/>
              <a:ext cx="5508022" cy="3836479"/>
            </a:xfrm>
            <a:prstGeom prst="rect">
              <a:avLst/>
            </a:prstGeom>
          </p:spPr>
        </p:pic>
        <p:sp>
          <p:nvSpPr>
            <p:cNvPr id="9" name="TextBox 9"/>
            <p:cNvSpPr txBox="1"/>
            <p:nvPr/>
          </p:nvSpPr>
          <p:spPr>
            <a:xfrm>
              <a:off x="6050280" y="5619750"/>
              <a:ext cx="4674408"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Employee workbench · Fictional demonstration data</a:t>
              </a:r>
            </a:p>
          </p:txBody>
        </p:sp>
      </p:grpSp>
      <p:grpSp>
        <p:nvGrpSpPr>
          <p:cNvPr id="12" name="p10-question-invitation"/>
          <p:cNvGrpSpPr/>
          <p:nvPr/>
        </p:nvGrpSpPr>
        <p:grpSpPr>
          <a:xfrm>
            <a:off x="598932" y="5689600"/>
            <a:ext cx="4550077" cy="410718"/>
            <a:chOff x="598932" y="5689600"/>
            <a:chExt cx="4550077" cy="410718"/>
          </a:xfrm>
        </p:grpSpPr>
        <p:sp>
          <p:nvSpPr>
            <p:cNvPr id="11" name="TextBox 11"/>
            <p:cNvSpPr txBox="1"/>
            <p:nvPr/>
          </p:nvSpPr>
          <p:spPr>
            <a:xfrm>
              <a:off x="598932" y="5689600"/>
              <a:ext cx="4550077" cy="410718"/>
            </a:xfrm>
            <a:prstGeom prst="rect">
              <a:avLst/>
            </a:prstGeom>
            <a:noFill/>
            <a:ln>
              <a:noFill/>
            </a:ln>
          </p:spPr>
          <p:txBody>
            <a:bodyPr wrap="none" lIns="0" tIns="0" rIns="0" bIns="0" anchor="t" anchorCtr="0">
              <a:spAutoFit/>
            </a:bodyPr>
            <a:lstStyle/>
            <a:p>
              <a:pPr algn="l"/>
              <a:r>
                <a:rPr lang="en-US" sz="2100" dirty="0">
                  <a:solidFill>
                    <a:schemeClr val="accent2"/>
                  </a:solidFill>
                  <a:latin typeface="+mn-lt"/>
                  <a:ea typeface="+mn-ea"/>
                  <a:cs typeface="+mn-cs"/>
                </a:rPr>
                <a:t>Thank you. Questions are welcome.</a:t>
              </a:r>
            </a:p>
          </p:txBody>
        </p:sp>
      </p:grpSp>
      <p:grpSp>
        <p:nvGrpSpPr>
          <p:cNvPr id="14" name="p10-page"/>
          <p:cNvGrpSpPr/>
          <p:nvPr/>
        </p:nvGrpSpPr>
        <p:grpSpPr>
          <a:xfrm>
            <a:off x="11350153" y="6229350"/>
            <a:ext cx="239867" cy="293370"/>
            <a:chOff x="11350153" y="6229350"/>
            <a:chExt cx="239867" cy="293370"/>
          </a:xfrm>
        </p:grpSpPr>
        <p:sp>
          <p:nvSpPr>
            <p:cNvPr id="13" name="TextBox 13"/>
            <p:cNvSpPr txBox="1"/>
            <p:nvPr/>
          </p:nvSpPr>
          <p:spPr>
            <a:xfrm>
              <a:off x="11350153" y="6229350"/>
              <a:ext cx="239867"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10</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group2_v21">
  <a:themeElements>
    <a:clrScheme name="group2_v21">
      <a:dk1>
        <a:srgbClr val="19364A"/>
      </a:dk1>
      <a:lt1>
        <a:srgbClr val="FFFFFF"/>
      </a:lt1>
      <a:dk2>
        <a:srgbClr val="1F497D"/>
      </a:dk2>
      <a:lt2>
        <a:srgbClr val="F2F6F8"/>
      </a:lt2>
      <a:accent1>
        <a:srgbClr val="142C45"/>
      </a:accent1>
      <a:accent2>
        <a:srgbClr val="087F78"/>
      </a:accent2>
      <a:accent3>
        <a:srgbClr val="BCE8DF"/>
      </a:accent3>
      <a:accent4>
        <a:srgbClr val="142C45"/>
      </a:accent4>
      <a:accent5>
        <a:srgbClr val="526B7A"/>
      </a:accent5>
      <a:accent6>
        <a:srgbClr val="C9D6DD"/>
      </a:accent6>
      <a:hlink>
        <a:srgbClr val="087F78"/>
      </a:hlink>
      <a:folHlink>
        <a:srgbClr val="BCE8DF"/>
      </a:folHlink>
    </a:clrScheme>
    <a:fontScheme name="group2_v21">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roup2_v2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group2_v21">
  <a:themeElements>
    <a:clrScheme name="group2_v21">
      <a:dk1>
        <a:srgbClr val="19364A"/>
      </a:dk1>
      <a:lt1>
        <a:srgbClr val="FFFFFF"/>
      </a:lt1>
      <a:dk2>
        <a:srgbClr val="1F497D"/>
      </a:dk2>
      <a:lt2>
        <a:srgbClr val="F2F6F8"/>
      </a:lt2>
      <a:accent1>
        <a:srgbClr val="142C45"/>
      </a:accent1>
      <a:accent2>
        <a:srgbClr val="087F78"/>
      </a:accent2>
      <a:accent3>
        <a:srgbClr val="BCE8DF"/>
      </a:accent3>
      <a:accent4>
        <a:srgbClr val="142C45"/>
      </a:accent4>
      <a:accent5>
        <a:srgbClr val="526B7A"/>
      </a:accent5>
      <a:accent6>
        <a:srgbClr val="C9D6DD"/>
      </a:accent6>
      <a:hlink>
        <a:srgbClr val="087F78"/>
      </a:hlink>
      <a:folHlink>
        <a:srgbClr val="BCE8DF"/>
      </a:folHlink>
    </a:clrScheme>
    <a:fontScheme name="group2_v21">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roup2_v2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2026-10-27T07:53:35Z</dcterms:created>
  <dcterms:modified xsi:type="dcterms:W3CDTF">2026-10-27T07:53:35Z</dcterms:modified>
  <cp:category/>
  <cp:contentStatus/>
</cp:coreProperties>
</file>